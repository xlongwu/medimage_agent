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libaba PuHuiTi R" pitchFamily="18" charset="-122"/>
      <p:regular r:id="rId28"/>
    </p:embeddedFont>
    <p:embeddedFont>
      <p:font typeface="Alibaba PuHuiTi M" pitchFamily="18" charset="-122"/>
      <p:regular r:id="rId29"/>
    </p:embeddedFont>
    <p:embeddedFont>
      <p:font typeface="Alibaba PuHuiTi B" pitchFamily="18" charset="-122"/>
      <p:bold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**建议时长：约 20 秒**
**开场：**
- 各位面试官好，今天拆解我主导开发的 **MedImage Agent**——一个面向 rs-fMRI 的研究工程平台。
- 一句话定位先讲清楚：**LLM 只负责规划与建议，所有计算都经确定性、人工审批、可审计的执行链完成**。
- 主动声明两条边界：当前版本 **v0.6.0-rc1**，仍在收敛中；这是研究平台，**不是临床诊断产品**。
&lt;!-- Next: 先回答动机——为什么要做这样一套系统。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在讲架构之前，先说明为什么需要这样一套系统。 --&gt;
**建议时长：约 40 秒**
**讲解要点：**
- 屏幕上的定位金句是整个系统的主轴：LLM 只做规划、解释与建议；任何实际计算必须经受控服务、**人工审批**与已注册执行器完成。
- 背后是三个真实痛点：科研工作流碎片化、手工脚本难复现；**LLM 无限自主在科研场景不可控**，所以系统禁止从 LLM 文本直接执行命令；结果可信必须靠逐步溯源与审计。
- 底部定位声明要主动讲：研究工程平台，不用于临床诊断——这是前提，不是附注。
&lt;!-- Next: 动机清楚了，看承载它的总体架构。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动机清楚了，接下来看承载这一定位的六层架构。 --&gt;
**建议时长：约 50 秒**
**讲解要点：**
- 六层自上而下：React 19 前端**只经 HTTP、不碰文件系统**；FastAPI + Pydantic API 层，33 个 domain router 加中间件链；Service 层按 **CQRS** 拆分命令服务、读模型与有界对账器；再往下是规划审批域、Pipeline Runtime、SQLite 与原子 JSON 存储。
- 桌面形态是 Electron 壳加 PyInstaller 后端 sidecar，sidecar 就是同一个 FastAPI 应用。
- 需要强调的是页脚这句：**后端状态始终权威**，前端从不用本地乐观状态推断执行结果或审批结论。
&lt;!-- Next: 静态分层之后，看贯穿这些层的主流程。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静态分层讲完，下面走一遍贯穿这些层的主流程。 --&gt;
**建议时长：约 60 秒**
**讲解要点：**
- 这条 14 步时间线是全场主线，**每一步都对应真实后端模块**。前半段是规划：创建项目、描述目标、补充输入与科学决策、生成确定性计划，然后 **Reviewed Plan 带 SHA-256 哈希持久化**。
- 中段是信任链：带哈希的 Approval Summary、三方哈希校验的人工审批、**审批绑定 dry-run**、Execution Ticket，最后经**唯一 Execution Gateway** 派发。
- 后半段执行与收敛：节点执行、产物注册、观测与目标评估；若不满足，只生成**未审批的恢复建议**——恢复永不自动批准。
&lt;!-- Next: 接下来展开流程的起点——确定性规划。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流程的起点是规划，这里最关键的设计决策是"确定性"。 --&gt;
**建议时长：约 40 秒**
**讲解要点：**
- 目标分类由**规则管线**确定性路由到 motion、ALFF、ReHo、平滑或全流程；不匹配就返回 UNSUPPORTED_GOAL 进入目标修订。**plan-only 目标只产计划、零执行**。
- Goal Contract 定义验收准则：产物必须存在、可重载、已注册，并明确禁用 simplified、preview_only、partial 三类标志。
- Reviewed Plan 以 SHA-256 plan_hash 锚定，未评审即 NEEDS_GOAL_REVIEW，拒绝执行。
- 注意页脚：**默认规划引擎是确定性规则引擎**，LLM provider 接口存在但默认禁用——不能夸大成 LLM 自主规划。
&lt;!-- Next: 计划生成后，任务进入状态机驱动的生命周期。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计划生成后，任务进入状态机驱动的生命周期。 --&gt;
**建议时长：约 40 秒**
**讲解要点：**
- 左侧是内部编排机：**25 个状态**分六组——规划、审批、执行、观察评估、恢复加四个终态。乐观锁防并发迁移；**RUNNING 不可取消，只能人工移交**。
- 右侧是对外 **5 态安全投影**：preparing、waiting_for_user、running、needs_attention、completed，前端只轮询投影、终态停止轮询。
- CQRS 三件套让两侧互不越界：CommandService 是生命周期命令唯一入口，ReadModel 做投影，Reconciler 做有界对账。关键一句：**AgentTask 是读投影，不是第二状态机**。
&lt;!-- Next: 生命周期中最核心的环节，是审批与执行链。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生命周期中最核心的环节，就是这条审批与执行的信任链。 --&gt;
**建议时长：约 50 秒**
**讲解要点：**
- 六步闭环：Approval Summary 全量持久化 summary_hash、TTL 与写根；审批时**三方哈希比对**加 plan_hash 一致，任一不符即 APPROVAL_SUMMARY_STALE；审批人身份只来自服务端令牌，请求体不可指定。
- 审批后先跑**绑定 dry-run**，失败即 AGENT_DRY_RUN_BLOCKED，停在 dispatch 之前；通过才签发 Ticket——canonical_hash 绑定计划、审批人、参数哈希、写根与 allowlist 指纹，**一次性消费**。
- 唯一 Gateway 先 validate、再 consume、最后注入哨兵上下文，入口清单 fail-closed。
**追问预案：** "如何保证审批顺序不被打乱？"——调用清单 spy 测试锁定顺序，断言 dry_run 先于 execute；篡改哈希时执行调用数为零。
&lt;!-- Next: 通过 Gateway 的执行请求，统一进入 Pipeline Runtime。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通过 Gateway 的执行请求，统一进入 Pipeline Runtime。 --&gt;
**建议时长：约 40 秒**
**讲解要点：**
- 节点按 **DAG 拓扑顺序**执行，每个节点启动前过依赖门：依赖未全部 SUCCESS，该节点直接失败。
- 被试级 fan-out 用 ThreadPoolExecutor，workers 上限 8、GPU 上限 4；gpu_mode 分 prefer / require / off 三档，require 而无 GPU 时**明确失败**，不静默降级。
- failed_subjects **自动剔除后续阶段**，终态三档 SUCCESS / PARTIAL / FAILED；节点级状态写在 work/states/&lt;run_id&gt;，全程可溯源、可恢复。
**追问预案：** "为什么是线程池？"——被试级粒度并行足够，且串行是保守默认，内存遥测缺失时回退 serial；确定性优先于吞吐。
&lt;!-- Next: 运行时有了，还要回答"能执行哪些节点"。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运行时有了，接下来回答"能执行哪些节点"。 --&gt;
**建议时长：约 30 秒**
**讲解要点：**
- 全库**约 90 个 node_id**、九个插件族，合并注册时**重复 ID 必须失败**，保证能力可枚举。
- 两点值得展开：一是 spm / dpabi 外部执行节点已全部替换为**退役拦截器**，fail-closed，不再是可用执行路径；二是 **Tool Catalog 元数据 → plan_validator 清单 → Approval Gate 决策**的联动链，能力描述与审批决策始终同步，不靠人工维护两份清单。
&lt;!-- Next: 下面以 DICOM 转换为例，看"默认拒绝"如何落地。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DICOM 转换是"默认拒绝、凭证据放行"的典型例子。 --&gt;
**建议时长：约 30 秒**
**讲解要点：**
- 五重闸门——三重转换 flag、release 审批、审计包、回滚检查、依赖可用性——**全部满足才可执行**。
- 转换器是**项目内 Python 实现**，不依赖 dcm2niix / MATLAB / SPM；只支持经典单帧 MR 与 Siemens 单帧 mosaic，其余格式安全拒绝。
- 安全边界：rawdata 执行前后文件数与校验和不变，输出仅限 converted_bids/，覆盖即失败。
- 证据等级如实：3 被试 6 对 NIfTI/JSON 是 Reference Validated，打包 sidecar/API 工作流已验证，**可见 GUI E2E 仍 pending**。
&lt;!-- Next: 转换后的数据，进入原生 24 阶段预处理流水线。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转换后的数据，进入这条原生 24 阶段流水线。 --&gt;
**建议时长：约 40 秒**
**讲解要点：**
- 阶段分四组：数据接入、空间处理、时间清理、指标与报告，一路走到 ALFF/fALFF、ReHo、FC 与最终报告。
- 这页最要说的是**诚实标注**：头动校正是 simplified 的 translation-only，不是 SPM 的 6 自由度；配准、分割是简化实现，标准化是 affine_only。这些标注**阻止相应阶段升级为 validated**。
- 全流水线是 numpy / scipy / nibabel 的**真实数值实现**，不调用 MATLAB / SPM / DPABI。
&lt;!-- Next: 算法实现了，怎么证明数值是对的？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算法实现之后，下一个问题是：怎么证明数值是对的。 --&gt;
**建议时长：约 40 秒**
**讲解要点：**
- 三层锁定：**golden 回归**用提交入库的 .npy 参考数据、固定 seed=42、ATOL 1e-5，偏差即报警；**独立参考实现**用纯 NumPy 重写 FFT、Kendall's W 与 Pearson，与被测 kernel 无共享代码路径，容差 1e-4；CPU/GPU 一致性容差对比通过后才允许启用 GPU。
- 能力锚点精确表述：ReHo CPU = **Golden Validated**；FC Pearson kernel = **Reference Validated**；reference_pending 不得冒充通过。
**追问预案：** "ReHo 的 GPU 路径呢？"——GPU 实现不处理 ties、未经验证，所以**自动回退 CPU**；宁可在性能上保守，不在数值上冒险。
&lt;!-- Next: 数值验证之后，结果还要诚实登记与呈现。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数值验证之后，结果还需要被诚实地登记和呈现。 --&gt;
**建议时长：约 30 秒**
**讲解要点：**
- 产物写入即注册：sha256 校验和、shape/dtype、source_artifact_ids 血缘，一个都不能少。
- 最关键的是 validation **诚实性检查**：拦截"声称计算但未计算"，只有完整可重载的数值产物才标 **computed**。
- 报告范围也显式声明：group_summary=false——不产生组级摘要，**不做能力之外的事**。状态持久化用 atomic_write_json 加 _schema_version，GET 只读性由 SQLite 快照测试证明。
&lt;!-- Next: 服务端之外，系统还以一键桌面应用交付。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服务端之外，系统还以一键桌面应用的形态交付。 --&gt;
**建议时长：约 30 秒**
**讲解要点：**
- Electron 31 壳负责 sidecar 生命周期：单实例锁、HMAC-SHA256 健康质询、父进程 PID watchdog、taskkill 进程树管理，孤儿进程不留存。
- 构建链是四段脚本：前端 Vite → PyInstaller 后端 sidecar → 兜底 launcher → electron-builder 的 NSIS per-user 安装。
- **证据分级**是这页的重点：build success、packaged smoke、GUI 验证是三件不同的事。前两者已验证，可见 UI 驱动的真实数据 E2E 仍 **pending**，打包不启用任何新执行能力。
&lt;!-- Next: 无论桌面还是服务端，都落在同一组安全边界上。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无论桌面还是服务端，都落在同一组安全边界上。 --&gt;
**建议时长：约 30 秒**
**讲解要点：**
- 三条硬边界：**rawdata 永久只读**，违规即 RAWDATA_SAFETY_VIOLATION 硬阻断；写根只限 work、logs、derivatives、reports、exports 五个；safe-path 先归一化再校验，拒绝目录遍历与符号链接逃逸。
- 审计 JSON **先于执行器调用写入**，不可篡改；allowlist 指纹参与 Execution Ticket 绑定，防目录漂移。
- 默认关闭设计：LLM advisory-only、GUI Agent mock-only、Memory 五道门默认全关——**记忆不是执行许可，也不是科学真值来源**。
&lt;!-- Next: 边界讲完，给出支撑以上全部声明的验证证据。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以上所有声明，都有一套可核查的证据支撑。 --&gt;
**建议时长：约 40 秒**
**讲解要点：**
- 数字精确报：**后端 4108 项测试通过** / 16 skipped，共 354 个测试文件；前端 58 个文件、238 项通过；CI 三 job 全绿、精确 SHA 锁定。
- 口径要主动说明：这是 **PROJECT_STATE.md 记录的验证基线（2026-07-26）**，不是现场重跑。
- 五个支撑点分别对应一类风险：科学双层容差锁定、审批顺序 spy 断言 dry_run 先于 execute、plan-only 零执行陷阱、GET 只读快照、conftest 临时 store 隔离。
**追问预案：** "4108 是现场跑出来的吗？"——如实回答：是文档记录的验证基线，可复跑，但本地结果不外推到 macOS、真实数据或 GPU。
&lt;!-- Next: 最后，用一页诚实边界收尾。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证据讲完，最后用一页边界清单收尾。 --&gt;
**建议时长：约 40 秒**
**总结与要点：**
- 左栏是已验证、且附证据等级：审批链顺序由 spy 测试锁定；ALFF/fALFF 与 ReHo-CPU、FC kernel 经 golden 或参考验证；三被试源码级 E2E、打包 sidecar/API 工作流、packaged smoke 均已通过。
- 右栏是如实标注的未验证与非目标：可见 GUI E2E 未证明、SPM/DPABI 数值等价与 ReHo GPU 未验证、Agent-first 未正式发布、组统计与诊断不在范围内。
- 结束语：**工程可信度来自诚实边界**——这是我今天最想传达的一点。
**追问预案：** "当前最大的风险是什么？"——可见 GUI E2E 尚未证明，所以 rc2 收敛冻结、不再新增执行路径，先补齐验证。
&lt;!-- Next: 后面四页附录仅在追问时翻阅，欢迎提问。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**仅在追问时翻阅。**
**引导语**：如果各位老师对某个阶段的成熟度有疑问，这一页就是能力矩阵的原文照录，我按它如实作答。
**讲解要点：**
- 矩阵按行读：左边是阶段，右边是**能力等级**与**验证状态**两栏。等级从 simplified、**Numerically Implemented** 到 Reference/Golden Validated 逐级抬升，每一级都只写到证据真正支撑的位置。
- 这就是"诚实分级"：Realignment 只标 simplified，不冒称完整标准算法；DICOM 转换虽然到了 Reference Validated，但默认阻断。
- 注意 **ALFF/fALFF 标的是 Numerically Implemented**，验证状态为 kernel golden/reference 覆盖——不标 Validated。
- 页脚注明：**RC2 冻结期内，能力等级一律不升级**。
**追问预案**（"为什么 ALFF/fALFF 只算 Numerically Implemented？"）：kernel 层确有双层证据——提交 golden（ATOL 1e-5）加独立参考实现（容差 1e-4），合成与单元测试充分；但能力矩阵现行口径是 Numerically Implemented，完整链路的 validated 证据尚不齐全，且 RC2 冻结期不升级任何等级。所以我不把它说成 Validated——克制表述本身，就是这套验证纪律的一部分。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如果追问到代码位置，翻这页代码地图。 --&gt;
**仅在追问时翻阅**
**讲解要点：**
- 目录到职责一一对应：services/ 放命令服务、读模型、对账器、审批摘要与票据；planner/ 放目标契约、计划存储、plan_validator 与 approval_gate；runtime/ 放唯一 gateway、执行器、节点注册插件与 path_safety。
- 科学计算在 native_preproc/（stages、orchestrator、io），前端在 features/agent 与 lib/api，桌面在 desktop/electron 与 packaging。
- 测试分布：unit 323、integration 21、golden 2、characterization 1——被追问时用这页**给出精确模块名**，避免泛泛而谈。
&lt;!-- Next: 审批链的失败行为，在附录 C 快速查阅。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追问审批链失败行为时，用这页错误码速查。 --&gt;
**仅在追问时翻阅**
**讲解要点：**
- 每个错误码对应明确的触发与行为：APPROVAL_SUMMARY_STALE / EXPIRED 拒绝审批；AGENT_DRY_RUN_BLOCKED 停在 dispatch 之前；ReHo 缺预处理输入链触发 AGENT_EXECUTION_PREREQUISITE_MISSING，阻断审批执行。
- 票据缺失、未消费、与计划不符、绑定漂移，都拒绝状态迁移；环境门未开返回 403 结构化拒绝。
- 一句话收拢：**所有失败都是结构化拒绝、fail-closed**，前端永远拿得到可解释的错误码，而不是笼统的"服务不可用"。
&lt;!-- Next: 最后一页附录，简述项目级记忆系统。 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 Transition: 最后一页附录，讲项目级记忆系统的设计要点。 --&gt;
**仅在追问时翻阅**
**讲解要点：**
- 双库分层：独立 memory SQLite 是长期记忆**唯一权威源**；desktop SQLite 只存 consent、事务 outbox 与 forget ledger，其余只是可重建投影。
- enabled、generation、use、llm、projection **五道门默认全关**，安装级与项目级双重门控；遗忘走 forget ledger 加墓碑，读取时 JOIN ledger、存疑即拒。
- 边界：memory_context_hash 冻结进 Reviewed Plan；科学记忆**仅具建议性**，必须在当前任务重新确认。
**收尾：** 记忆不是执行许可，也不是科学真值来源。今天的分享就到这里，谢谢，欢迎提问。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915400" y="3581400"/>
            <a:ext cx="3276600" cy="3276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8200" y="609600"/>
            <a:ext cx="375850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MEDIMAGE AGENT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架构拆解</a:t>
            </a:r>
            <a:endParaRPr lang="en-US" sz="1500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219200"/>
            <a:ext cx="685800" cy="1905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838200" y="1552575"/>
            <a:ext cx="5071616" cy="8286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MedImage Agent</a:t>
            </a:r>
            <a:endParaRPr lang="en-US" sz="4650" dirty="0"/>
          </a:p>
        </p:txBody>
      </p:sp>
      <p:sp>
        <p:nvSpPr>
          <p:cNvPr id="8" name="Text 2"/>
          <p:cNvSpPr/>
          <p:nvPr/>
        </p:nvSpPr>
        <p:spPr>
          <a:xfrm>
            <a:off x="838200" y="2309217"/>
            <a:ext cx="9447461" cy="1490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4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确定性 </a:t>
            </a:r>
            <a:r>
              <a:rPr lang="en-US" sz="4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Plan-then-Execute </a:t>
            </a:r>
            <a:r>
              <a:rPr lang="zh-CN" altLang="en-US" sz="4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的 </a:t>
            </a:r>
            <a:r>
              <a:rPr lang="en-US" sz="4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rs-</a:t>
            </a:r>
            <a:r>
              <a:rPr lang="en-US" sz="4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fMRI </a:t>
            </a:r>
            <a:r>
              <a:rPr lang="zh-CN" altLang="en-US" sz="4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研究平台</a:t>
            </a:r>
            <a:endParaRPr lang="en-US" sz="4650" dirty="0"/>
          </a:p>
        </p:txBody>
      </p:sp>
      <p:sp>
        <p:nvSpPr>
          <p:cNvPr id="9" name="Text 3"/>
          <p:cNvSpPr/>
          <p:nvPr/>
        </p:nvSpPr>
        <p:spPr>
          <a:xfrm>
            <a:off x="838200" y="4146352"/>
            <a:ext cx="7711083" cy="736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LLM </a:t>
            </a:r>
            <a:r>
              <a:rPr lang="zh-CN" altLang="en-US" sz="19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只负责规划与建议，所有计算经确定性、人工审批、可审计的受控</a:t>
            </a:r>
            <a:r>
              <a:rPr lang="zh-CN" altLang="en-US" sz="19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执行链完成</a:t>
            </a:r>
            <a:endParaRPr lang="en-US" sz="19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838825"/>
            <a:ext cx="10629900" cy="4857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38200" y="6057900"/>
            <a:ext cx="546080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求职架构拆解 ·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v0.6.0-rc1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研究工程平台（非临床诊断）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9467999" y="6057900"/>
            <a:ext cx="200010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Plan-then-Execute</a:t>
            </a:r>
            <a:endParaRPr lang="en-US" sz="15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9105900" y="3924300"/>
            <a:ext cx="2876550" cy="28765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476250"/>
            <a:ext cx="2925514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8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为什么做这个系统</a:t>
            </a:r>
            <a:endParaRPr lang="en-US" sz="2850" dirty="0"/>
          </a:p>
        </p:txBody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14425"/>
            <a:ext cx="685800" cy="1905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57325"/>
            <a:ext cx="10972800" cy="16668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09600" y="1453902"/>
            <a:ext cx="9023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定位金句</a:t>
            </a:r>
            <a:endParaRPr lang="en-US" sz="1500" dirty="0"/>
          </a:p>
        </p:txBody>
      </p:sp>
      <p:sp>
        <p:nvSpPr>
          <p:cNvPr id="9" name="Text 2"/>
          <p:cNvSpPr/>
          <p:nvPr/>
        </p:nvSpPr>
        <p:spPr>
          <a:xfrm>
            <a:off x="609600" y="2273052"/>
            <a:ext cx="975107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LLM </a:t>
            </a:r>
            <a:r>
              <a:rPr lang="zh-CN" altLang="en-US" sz="22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只负责规划、解释与建议；任何实际计算只能经受控服务、人工审批与已</a:t>
            </a:r>
            <a:r>
              <a:rPr lang="zh-CN" altLang="en-US" sz="22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注册执行器完成。</a:t>
            </a:r>
            <a:endParaRPr lang="en-US" sz="2250" dirty="0"/>
          </a:p>
        </p:txBody>
      </p:sp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448050"/>
            <a:ext cx="10972800" cy="2028825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762375"/>
            <a:ext cx="457200" cy="4572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609600" y="4359920"/>
            <a:ext cx="179963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科研工作流碎片化</a:t>
            </a:r>
            <a:endParaRPr lang="en-US" sz="1800" dirty="0"/>
          </a:p>
        </p:txBody>
      </p:sp>
      <p:sp>
        <p:nvSpPr>
          <p:cNvPr id="13" name="Text 4"/>
          <p:cNvSpPr/>
          <p:nvPr/>
        </p:nvSpPr>
        <p:spPr>
          <a:xfrm>
            <a:off x="609600" y="4780806"/>
            <a:ext cx="3263503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手工脚本难以复现，流程缺少确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定性编排。</a:t>
            </a:r>
            <a:endParaRPr lang="en-US" sz="1800" dirty="0"/>
          </a:p>
        </p:txBody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8175" y="3762375"/>
            <a:ext cx="457200" cy="45720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4444901" y="4359920"/>
            <a:ext cx="318760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LLM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无限自主在科研场景不可控</a:t>
            </a:r>
            <a:endParaRPr lang="en-US" sz="1800" dirty="0"/>
          </a:p>
        </p:txBody>
      </p:sp>
      <p:sp>
        <p:nvSpPr>
          <p:cNvPr id="16" name="Text 6"/>
          <p:cNvSpPr/>
          <p:nvPr/>
        </p:nvSpPr>
        <p:spPr>
          <a:xfrm>
            <a:off x="4444901" y="4780806"/>
            <a:ext cx="3352651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禁止从 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LLM 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文本直接执行命令，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执行必须走受控通道。</a:t>
            </a:r>
            <a:endParaRPr lang="en-US" sz="18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7225" y="3762375"/>
            <a:ext cx="457200" cy="45720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8280350" y="4359920"/>
            <a:ext cx="247441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结果可信需要溯源与审计</a:t>
            </a:r>
            <a:endParaRPr lang="en-US" sz="1800" dirty="0"/>
          </a:p>
        </p:txBody>
      </p:sp>
      <p:sp>
        <p:nvSpPr>
          <p:cNvPr id="19" name="Text 8"/>
          <p:cNvSpPr/>
          <p:nvPr/>
        </p:nvSpPr>
        <p:spPr>
          <a:xfrm>
            <a:off x="8280350" y="4780806"/>
            <a:ext cx="3263503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每一步计算过程都必须可追溯、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可审计。</a:t>
            </a:r>
            <a:endParaRPr lang="en-US" sz="180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791200"/>
            <a:ext cx="10972800" cy="6477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885825" y="5983486"/>
            <a:ext cx="9023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定位声明</a:t>
            </a:r>
            <a:endParaRPr lang="en-US" sz="1500" dirty="0"/>
          </a:p>
        </p:txBody>
      </p:sp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0250" y="5972175"/>
            <a:ext cx="9525" cy="28575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2216795" y="5956846"/>
            <a:ext cx="382413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这是研究工程平台，不用于临床诊断。</a:t>
            </a:r>
            <a:endParaRPr lang="en-US" sz="1800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8839200" y="3505200"/>
            <a:ext cx="3276600" cy="3276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04800"/>
            <a:ext cx="182225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分层架构 · 调用链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457200" y="590550"/>
            <a:ext cx="449892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总体架构：六层与三端形态</a:t>
            </a:r>
            <a:endParaRPr lang="en-US" sz="30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9675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00175"/>
            <a:ext cx="3638550" cy="21717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57225" y="1756470"/>
            <a:ext cx="2656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038225" y="1924050"/>
            <a:ext cx="2847975" cy="952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57225" y="2070795"/>
            <a:ext cx="25610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前端层 · </a:t>
            </a:r>
            <a:r>
              <a:rPr 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React 19 / Vite</a:t>
            </a:r>
            <a:endParaRPr lang="en-US" sz="1875" dirty="0"/>
          </a:p>
        </p:txBody>
      </p:sp>
      <p:sp>
        <p:nvSpPr>
          <p:cNvPr id="11" name="Text 4"/>
          <p:cNvSpPr/>
          <p:nvPr/>
        </p:nvSpPr>
        <p:spPr>
          <a:xfrm>
            <a:off x="657225" y="2470845"/>
            <a:ext cx="3245941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只经 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HTTP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请求后端，不碰文件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系统</a:t>
            </a:r>
            <a:endParaRPr lang="en-US" sz="18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6725" y="1400175"/>
            <a:ext cx="3638550" cy="21717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479875" y="1756470"/>
            <a:ext cx="2656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4857750" y="1924050"/>
            <a:ext cx="2847975" cy="95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479875" y="2070795"/>
            <a:ext cx="294277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API </a:t>
            </a:r>
            <a:r>
              <a:rPr lang="zh-CN" alt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层 · </a:t>
            </a:r>
            <a:r>
              <a:rPr 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FastAPI / Pydantic</a:t>
            </a:r>
            <a:endParaRPr lang="en-US" sz="1875" dirty="0"/>
          </a:p>
        </p:txBody>
      </p:sp>
      <p:sp>
        <p:nvSpPr>
          <p:cNvPr id="16" name="Text 7"/>
          <p:cNvSpPr/>
          <p:nvPr/>
        </p:nvSpPr>
        <p:spPr>
          <a:xfrm>
            <a:off x="4479875" y="2470845"/>
            <a:ext cx="3235970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33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个 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domain router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与中间件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链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5775" y="1400175"/>
            <a:ext cx="3638550" cy="21717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302526" y="1933575"/>
            <a:ext cx="2656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8686800" y="2095500"/>
            <a:ext cx="2847975" cy="952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302526" y="2247900"/>
            <a:ext cx="192881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Service </a:t>
            </a:r>
            <a:r>
              <a:rPr lang="zh-CN" alt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层 · </a:t>
            </a:r>
            <a:r>
              <a:rPr 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CQRS</a:t>
            </a:r>
            <a:endParaRPr lang="en-US" sz="1875" dirty="0"/>
          </a:p>
        </p:txBody>
      </p:sp>
      <p:sp>
        <p:nvSpPr>
          <p:cNvPr id="21" name="Text 10"/>
          <p:cNvSpPr/>
          <p:nvPr/>
        </p:nvSpPr>
        <p:spPr>
          <a:xfrm>
            <a:off x="8302526" y="2647950"/>
            <a:ext cx="30975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命令服务 · 读模型 · 有界对账器</a:t>
            </a:r>
            <a:endParaRPr lang="en-US" sz="18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48075"/>
            <a:ext cx="11277600" cy="133350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>
            <a:alphaModFix amt="60000"/>
          </a:blip>
          <a:stretch>
            <a:fillRect/>
          </a:stretch>
        </p:blipFill>
        <p:spPr>
          <a:xfrm>
            <a:off x="457200" y="3714750"/>
            <a:ext cx="5419725" cy="9525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>
            <a:alphaModFix amt="60000"/>
          </a:blip>
          <a:stretch>
            <a:fillRect/>
          </a:stretch>
        </p:blipFill>
        <p:spPr>
          <a:xfrm>
            <a:off x="6315075" y="3714750"/>
            <a:ext cx="5419725" cy="9525"/>
          </a:xfrm>
          <a:prstGeom prst="rect">
            <a:avLst/>
          </a:prstGeom>
        </p:spPr>
      </p:pic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857625"/>
            <a:ext cx="3638550" cy="21717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657225" y="4210050"/>
            <a:ext cx="2656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04</a:t>
            </a:r>
            <a:endParaRPr lang="en-US" sz="1800" dirty="0"/>
          </a:p>
        </p:txBody>
      </p:sp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>
            <a:alphaModFix amt="50000"/>
          </a:blip>
          <a:stretch>
            <a:fillRect/>
          </a:stretch>
        </p:blipFill>
        <p:spPr>
          <a:xfrm>
            <a:off x="1038225" y="4381500"/>
            <a:ext cx="2847975" cy="9525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657225" y="4524375"/>
            <a:ext cx="140597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规划与审批域</a:t>
            </a:r>
            <a:endParaRPr lang="en-US" sz="1875" dirty="0"/>
          </a:p>
        </p:txBody>
      </p:sp>
      <p:sp>
        <p:nvSpPr>
          <p:cNvPr id="29" name="Text 13"/>
          <p:cNvSpPr/>
          <p:nvPr/>
        </p:nvSpPr>
        <p:spPr>
          <a:xfrm>
            <a:off x="657225" y="4924425"/>
            <a:ext cx="2759571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Goal Contract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Approval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Summary</a:t>
            </a:r>
            <a:endParaRPr lang="en-US" sz="1800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6725" y="3857625"/>
            <a:ext cx="3638550" cy="217170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4479875" y="4210050"/>
            <a:ext cx="2656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05</a:t>
            </a:r>
            <a:endParaRPr lang="en-US" sz="1800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>
            <a:alphaModFix amt="50000"/>
          </a:blip>
          <a:stretch>
            <a:fillRect/>
          </a:stretch>
        </p:blipFill>
        <p:spPr>
          <a:xfrm>
            <a:off x="4857750" y="4381500"/>
            <a:ext cx="2847975" cy="9525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4479875" y="4524375"/>
            <a:ext cx="19355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Pipeline Runtime</a:t>
            </a:r>
            <a:endParaRPr lang="en-US" sz="1875" dirty="0"/>
          </a:p>
        </p:txBody>
      </p:sp>
      <p:sp>
        <p:nvSpPr>
          <p:cNvPr id="34" name="Text 16"/>
          <p:cNvSpPr/>
          <p:nvPr/>
        </p:nvSpPr>
        <p:spPr>
          <a:xfrm>
            <a:off x="4479875" y="4924425"/>
            <a:ext cx="3237756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插件节点注册表 · 确定性执行唯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一来源</a:t>
            </a:r>
            <a:endParaRPr lang="en-US" sz="1800" dirty="0"/>
          </a:p>
        </p:txBody>
      </p:sp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05775" y="3857625"/>
            <a:ext cx="3638550" cy="2171700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8302526" y="4387155"/>
            <a:ext cx="26565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06</a:t>
            </a:r>
            <a:endParaRPr lang="en-US" sz="1800" dirty="0"/>
          </a:p>
        </p:txBody>
      </p:sp>
      <p:pic>
        <p:nvPicPr>
          <p:cNvPr id="37" name="Image 17" descr="preencoded.png">    </p:cNvPr>
          <p:cNvPicPr>
            <a:picLocks noChangeAspect="1"/>
          </p:cNvPicPr>
          <p:nvPr/>
        </p:nvPicPr>
        <p:blipFill>
          <a:blip r:embed="rId18">
            <a:alphaModFix amt="50000"/>
          </a:blip>
          <a:stretch>
            <a:fillRect/>
          </a:stretch>
        </p:blipFill>
        <p:spPr>
          <a:xfrm>
            <a:off x="8686800" y="4552950"/>
            <a:ext cx="2847975" cy="9525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8302526" y="4701480"/>
            <a:ext cx="70306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存储层</a:t>
            </a:r>
            <a:endParaRPr lang="en-US" sz="1875" dirty="0"/>
          </a:p>
        </p:txBody>
      </p:sp>
      <p:sp>
        <p:nvSpPr>
          <p:cNvPr id="39" name="Text 19"/>
          <p:cNvSpPr/>
          <p:nvPr/>
        </p:nvSpPr>
        <p:spPr>
          <a:xfrm>
            <a:off x="8302526" y="5101530"/>
            <a:ext cx="265658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SQLite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原子 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JSON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持久化</a:t>
            </a:r>
            <a:endParaRPr lang="en-US" sz="1800" dirty="0"/>
          </a:p>
        </p:txBody>
      </p:sp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6172200"/>
            <a:ext cx="11277600" cy="457200"/>
          </a:xfrm>
          <a:prstGeom prst="rect">
            <a:avLst/>
          </a:prstGeom>
        </p:spPr>
      </p:pic>
      <p:sp>
        <p:nvSpPr>
          <p:cNvPr id="41" name="Text 20"/>
          <p:cNvSpPr/>
          <p:nvPr/>
        </p:nvSpPr>
        <p:spPr>
          <a:xfrm>
            <a:off x="457200" y="6338888"/>
            <a:ext cx="8413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桌面形态</a:t>
            </a:r>
            <a:endParaRPr lang="en-US" sz="1500" dirty="0"/>
          </a:p>
        </p:txBody>
      </p:sp>
      <p:pic>
        <p:nvPicPr>
          <p:cNvPr id="4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47800" y="6381750"/>
            <a:ext cx="9525" cy="190500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1612850" y="6315075"/>
            <a:ext cx="390004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Electron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壳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+ PyInstaller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后端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sidecar</a:t>
            </a:r>
            <a:endParaRPr lang="en-US" sz="1800" dirty="0"/>
          </a:p>
        </p:txBody>
      </p:sp>
      <p:pic>
        <p:nvPicPr>
          <p:cNvPr id="4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25025" y="6429375"/>
            <a:ext cx="95250" cy="95250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9935170" y="6315075"/>
            <a:ext cx="179963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后端状态始终权威</a:t>
            </a:r>
            <a:endParaRPr lang="en-US" sz="1800" dirty="0"/>
          </a:p>
        </p:txBody>
      </p:sp>
      <p:pic>
        <p:nvPicPr>
          <p:cNvPr id="4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829800" y="4305300"/>
            <a:ext cx="2362200" cy="2362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47650"/>
            <a:ext cx="42008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WORKFLOW A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PLAN-THEN-EXECUTE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457200" y="542925"/>
            <a:ext cx="4710559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7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流程 </a:t>
            </a:r>
            <a:r>
              <a:rPr lang="en-US" sz="27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</a:t>
            </a:r>
            <a:r>
              <a:rPr lang="zh-CN" altLang="en-US" sz="27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：从研究目标到可信结果</a:t>
            </a:r>
            <a:endParaRPr lang="en-US" sz="27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395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05000"/>
            <a:ext cx="11277600" cy="952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142405" y="155317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812750" y="2077045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创建项目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632520" y="2781895"/>
            <a:ext cx="126027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BIDS/rawdata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1876425"/>
            <a:ext cx="76200" cy="762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53469" y="155317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2423815" y="2077045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描述目标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2297906" y="2781895"/>
            <a:ext cx="115163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Agent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工作区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450" y="1876425"/>
            <a:ext cx="76200" cy="76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364534" y="155317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4034879" y="2077045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补充输入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3828752" y="2781895"/>
            <a:ext cx="14074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缺失输入与科学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决策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175" y="1876425"/>
            <a:ext cx="76200" cy="76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975598" y="155317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5645944" y="2077045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生成计划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5439817" y="2781895"/>
            <a:ext cx="13122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确定性计划生成</a:t>
            </a:r>
            <a:endParaRPr lang="en-US" sz="15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1876425"/>
            <a:ext cx="76200" cy="762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586663" y="155317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15"/>
          <p:cNvSpPr/>
          <p:nvPr/>
        </p:nvSpPr>
        <p:spPr>
          <a:xfrm>
            <a:off x="7095232" y="2077045"/>
            <a:ext cx="1337667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Reviewed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Plan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持久化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7045375" y="2781895"/>
            <a:ext cx="141833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SHA-256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哈希 ·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不可变快照</a:t>
            </a:r>
            <a:endParaRPr lang="en-US" sz="15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7150" y="1876425"/>
            <a:ext cx="76200" cy="762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197727" y="155317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18"/>
          <p:cNvSpPr/>
          <p:nvPr/>
        </p:nvSpPr>
        <p:spPr>
          <a:xfrm>
            <a:off x="8792617" y="2077045"/>
            <a:ext cx="1165175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Approval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Summary</a:t>
            </a:r>
            <a:endParaRPr lang="en-US" sz="1800" dirty="0"/>
          </a:p>
        </p:txBody>
      </p:sp>
      <p:sp>
        <p:nvSpPr>
          <p:cNvPr id="30" name="Text 19"/>
          <p:cNvSpPr/>
          <p:nvPr/>
        </p:nvSpPr>
        <p:spPr>
          <a:xfrm>
            <a:off x="9036844" y="2781895"/>
            <a:ext cx="5624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带哈希</a:t>
            </a:r>
            <a:endParaRPr lang="en-US" sz="15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875" y="1876425"/>
            <a:ext cx="76200" cy="762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0808791" y="155317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21"/>
          <p:cNvSpPr/>
          <p:nvPr/>
        </p:nvSpPr>
        <p:spPr>
          <a:xfrm>
            <a:off x="10479137" y="2077045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人工审批</a:t>
            </a:r>
            <a:endParaRPr lang="en-US" sz="1800" dirty="0"/>
          </a:p>
        </p:txBody>
      </p:sp>
      <p:sp>
        <p:nvSpPr>
          <p:cNvPr id="34" name="Text 22"/>
          <p:cNvSpPr/>
          <p:nvPr/>
        </p:nvSpPr>
        <p:spPr>
          <a:xfrm>
            <a:off x="10366623" y="2781895"/>
            <a:ext cx="11248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三方哈希校验</a:t>
            </a:r>
            <a:endParaRPr lang="en-US" sz="15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6600" y="1876425"/>
            <a:ext cx="76200" cy="76200"/>
          </a:xfrm>
          <a:prstGeom prst="rect">
            <a:avLst/>
          </a:prstGeom>
        </p:spPr>
      </p:pic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5175" y="3286125"/>
            <a:ext cx="9525" cy="419100"/>
          </a:xfrm>
          <a:prstGeom prst="rect">
            <a:avLst/>
          </a:prstGeom>
        </p:spPr>
      </p:pic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77550" y="3619500"/>
            <a:ext cx="104775" cy="66675"/>
          </a:xfrm>
          <a:prstGeom prst="rect">
            <a:avLst/>
          </a:prstGeom>
        </p:spPr>
      </p:pic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019550"/>
            <a:ext cx="11277600" cy="9525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10808940" y="366772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08</a:t>
            </a:r>
            <a:endParaRPr lang="en-US" sz="1500" dirty="0"/>
          </a:p>
        </p:txBody>
      </p:sp>
      <p:sp>
        <p:nvSpPr>
          <p:cNvPr id="40" name="Text 24"/>
          <p:cNvSpPr/>
          <p:nvPr/>
        </p:nvSpPr>
        <p:spPr>
          <a:xfrm>
            <a:off x="10220027" y="4191595"/>
            <a:ext cx="1532781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审批绑定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dry-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run</a:t>
            </a:r>
            <a:endParaRPr lang="en-US" sz="1800" dirty="0"/>
          </a:p>
        </p:txBody>
      </p:sp>
      <p:sp>
        <p:nvSpPr>
          <p:cNvPr id="41" name="Text 25"/>
          <p:cNvSpPr/>
          <p:nvPr/>
        </p:nvSpPr>
        <p:spPr>
          <a:xfrm>
            <a:off x="10460534" y="4896445"/>
            <a:ext cx="937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执行前校验</a:t>
            </a:r>
            <a:endParaRPr lang="en-US" sz="150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96600" y="3990975"/>
            <a:ext cx="76200" cy="762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9197876" y="366772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09</a:t>
            </a:r>
            <a:endParaRPr lang="en-US" sz="1500" dirty="0"/>
          </a:p>
        </p:txBody>
      </p:sp>
      <p:sp>
        <p:nvSpPr>
          <p:cNvPr id="44" name="Text 27"/>
          <p:cNvSpPr/>
          <p:nvPr/>
        </p:nvSpPr>
        <p:spPr>
          <a:xfrm>
            <a:off x="8787259" y="4191595"/>
            <a:ext cx="1176189" cy="62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Execution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Ticket</a:t>
            </a:r>
            <a:endParaRPr lang="en-US" sz="1800" dirty="0"/>
          </a:p>
        </p:txBody>
      </p:sp>
      <p:sp>
        <p:nvSpPr>
          <p:cNvPr id="45" name="Text 28"/>
          <p:cNvSpPr/>
          <p:nvPr/>
        </p:nvSpPr>
        <p:spPr>
          <a:xfrm>
            <a:off x="8943231" y="4896445"/>
            <a:ext cx="7499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执行票据</a:t>
            </a:r>
            <a:endParaRPr lang="en-US" sz="1500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86875" y="3990975"/>
            <a:ext cx="76200" cy="76200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7586811" y="366772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10</a:t>
            </a:r>
            <a:endParaRPr lang="en-US" sz="1500" dirty="0"/>
          </a:p>
        </p:txBody>
      </p:sp>
      <p:sp>
        <p:nvSpPr>
          <p:cNvPr id="48" name="Text 30"/>
          <p:cNvSpPr/>
          <p:nvPr/>
        </p:nvSpPr>
        <p:spPr>
          <a:xfrm>
            <a:off x="7176195" y="4191595"/>
            <a:ext cx="1176189" cy="931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唯一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Execution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Gateway</a:t>
            </a:r>
            <a:endParaRPr lang="en-US" sz="1800" dirty="0"/>
          </a:p>
        </p:txBody>
      </p:sp>
      <p:sp>
        <p:nvSpPr>
          <p:cNvPr id="49" name="Text 31"/>
          <p:cNvSpPr/>
          <p:nvPr/>
        </p:nvSpPr>
        <p:spPr>
          <a:xfrm>
            <a:off x="7144643" y="5193357"/>
            <a:ext cx="11248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唯一派发通道</a:t>
            </a:r>
            <a:endParaRPr lang="en-US" sz="150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7150" y="3990975"/>
            <a:ext cx="76200" cy="76200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5975747" y="366772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11</a:t>
            </a:r>
            <a:endParaRPr lang="en-US" sz="1500" dirty="0"/>
          </a:p>
        </p:txBody>
      </p:sp>
      <p:sp>
        <p:nvSpPr>
          <p:cNvPr id="52" name="Text 33"/>
          <p:cNvSpPr/>
          <p:nvPr/>
        </p:nvSpPr>
        <p:spPr>
          <a:xfrm>
            <a:off x="5646093" y="4191595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节点执行</a:t>
            </a:r>
            <a:endParaRPr lang="en-US" sz="1800" dirty="0"/>
          </a:p>
        </p:txBody>
      </p:sp>
      <p:sp>
        <p:nvSpPr>
          <p:cNvPr id="53" name="Text 34"/>
          <p:cNvSpPr/>
          <p:nvPr/>
        </p:nvSpPr>
        <p:spPr>
          <a:xfrm>
            <a:off x="5720804" y="4896445"/>
            <a:ext cx="84564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Pipeline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Runtime</a:t>
            </a:r>
            <a:endParaRPr lang="en-US" sz="1500" dirty="0"/>
          </a:p>
        </p:txBody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57900" y="3990975"/>
            <a:ext cx="76200" cy="76200"/>
          </a:xfrm>
          <a:prstGeom prst="rect">
            <a:avLst/>
          </a:prstGeom>
        </p:spPr>
      </p:pic>
      <p:sp>
        <p:nvSpPr>
          <p:cNvPr id="55" name="Text 35"/>
          <p:cNvSpPr/>
          <p:nvPr/>
        </p:nvSpPr>
        <p:spPr>
          <a:xfrm>
            <a:off x="4364682" y="366772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12</a:t>
            </a:r>
            <a:endParaRPr lang="en-US" sz="1500" dirty="0"/>
          </a:p>
        </p:txBody>
      </p:sp>
      <p:sp>
        <p:nvSpPr>
          <p:cNvPr id="56" name="Text 36"/>
          <p:cNvSpPr/>
          <p:nvPr/>
        </p:nvSpPr>
        <p:spPr>
          <a:xfrm>
            <a:off x="4035028" y="4191595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产物注册</a:t>
            </a:r>
            <a:endParaRPr lang="en-US" sz="1800" dirty="0"/>
          </a:p>
        </p:txBody>
      </p:sp>
      <p:sp>
        <p:nvSpPr>
          <p:cNvPr id="57" name="Text 37"/>
          <p:cNvSpPr/>
          <p:nvPr/>
        </p:nvSpPr>
        <p:spPr>
          <a:xfrm>
            <a:off x="3934420" y="4896445"/>
            <a:ext cx="119628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Artifact/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QC/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Report/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Provenance</a:t>
            </a:r>
            <a:endParaRPr lang="en-US" sz="1500" dirty="0"/>
          </a:p>
        </p:txBody>
      </p:sp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8175" y="3990975"/>
            <a:ext cx="76200" cy="76200"/>
          </a:xfrm>
          <a:prstGeom prst="rect">
            <a:avLst/>
          </a:prstGeom>
        </p:spPr>
      </p:pic>
      <p:sp>
        <p:nvSpPr>
          <p:cNvPr id="59" name="Text 38"/>
          <p:cNvSpPr/>
          <p:nvPr/>
        </p:nvSpPr>
        <p:spPr>
          <a:xfrm>
            <a:off x="2753618" y="366772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13</a:t>
            </a:r>
            <a:endParaRPr lang="en-US" sz="1500" dirty="0"/>
          </a:p>
        </p:txBody>
      </p:sp>
      <p:sp>
        <p:nvSpPr>
          <p:cNvPr id="60" name="Text 39"/>
          <p:cNvSpPr/>
          <p:nvPr/>
        </p:nvSpPr>
        <p:spPr>
          <a:xfrm>
            <a:off x="2311450" y="4191595"/>
            <a:ext cx="11248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观测与评估</a:t>
            </a:r>
            <a:endParaRPr lang="en-US" sz="1800" dirty="0"/>
          </a:p>
        </p:txBody>
      </p:sp>
      <p:sp>
        <p:nvSpPr>
          <p:cNvPr id="61" name="Text 40"/>
          <p:cNvSpPr/>
          <p:nvPr/>
        </p:nvSpPr>
        <p:spPr>
          <a:xfrm>
            <a:off x="2266950" y="4896445"/>
            <a:ext cx="130924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Observation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Goal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Evaluation</a:t>
            </a:r>
            <a:endParaRPr lang="en-US" sz="1500" dirty="0"/>
          </a:p>
        </p:txBody>
      </p:sp>
      <p:pic>
        <p:nvPicPr>
          <p:cNvPr id="6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38450" y="3990975"/>
            <a:ext cx="76200" cy="76200"/>
          </a:xfrm>
          <a:prstGeom prst="rect">
            <a:avLst/>
          </a:prstGeom>
        </p:spPr>
      </p:pic>
      <p:sp>
        <p:nvSpPr>
          <p:cNvPr id="63" name="Text 41"/>
          <p:cNvSpPr/>
          <p:nvPr/>
        </p:nvSpPr>
        <p:spPr>
          <a:xfrm>
            <a:off x="1142554" y="366772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14</a:t>
            </a:r>
            <a:endParaRPr lang="en-US" sz="1500" dirty="0"/>
          </a:p>
        </p:txBody>
      </p:sp>
      <p:sp>
        <p:nvSpPr>
          <p:cNvPr id="64" name="Text 42"/>
          <p:cNvSpPr/>
          <p:nvPr/>
        </p:nvSpPr>
        <p:spPr>
          <a:xfrm>
            <a:off x="812899" y="4191595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结果展示</a:t>
            </a:r>
            <a:endParaRPr lang="en-US" sz="1800" dirty="0"/>
          </a:p>
        </p:txBody>
      </p:sp>
      <p:sp>
        <p:nvSpPr>
          <p:cNvPr id="65" name="Text 43"/>
          <p:cNvSpPr/>
          <p:nvPr/>
        </p:nvSpPr>
        <p:spPr>
          <a:xfrm>
            <a:off x="606772" y="4896445"/>
            <a:ext cx="14074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或未审批的恢复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建议</a:t>
            </a:r>
            <a:endParaRPr lang="en-US" sz="1500" dirty="0"/>
          </a:p>
        </p:txBody>
      </p:sp>
      <p:pic>
        <p:nvPicPr>
          <p:cNvPr id="6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28725" y="3990975"/>
            <a:ext cx="76200" cy="76200"/>
          </a:xfrm>
          <a:prstGeom prst="rect">
            <a:avLst/>
          </a:prstGeom>
        </p:spPr>
      </p:pic>
      <p:pic>
        <p:nvPicPr>
          <p:cNvPr id="6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6143625"/>
            <a:ext cx="11277600" cy="9525"/>
          </a:xfrm>
          <a:prstGeom prst="rect">
            <a:avLst/>
          </a:prstGeom>
        </p:spPr>
      </p:pic>
      <p:sp>
        <p:nvSpPr>
          <p:cNvPr id="68" name="Text 44"/>
          <p:cNvSpPr/>
          <p:nvPr/>
        </p:nvSpPr>
        <p:spPr>
          <a:xfrm>
            <a:off x="457200" y="6286351"/>
            <a:ext cx="81362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每一步对应真实后端模块 ·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LLM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仅规划与解释，全部执行须经人工审批与唯一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Execution Gateway</a:t>
            </a:r>
            <a:endParaRPr lang="en-US" sz="1500" dirty="0"/>
          </a:p>
        </p:txBody>
      </p:sp>
      <p:pic>
        <p:nvPicPr>
          <p:cNvPr id="6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8915400" y="3638550"/>
            <a:ext cx="3009900" cy="3009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7200"/>
            <a:ext cx="238645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PLANNING PIPELINE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457200" y="771525"/>
            <a:ext cx="68294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确定性规划：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Goal Contract 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与 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Reviewed Plan</a:t>
            </a:r>
            <a:endParaRPr lang="en-US" sz="2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3350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95475"/>
            <a:ext cx="3619500" cy="38290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2152650"/>
            <a:ext cx="419100" cy="4191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76275" y="2696914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目标分类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676275" y="3066455"/>
            <a:ext cx="16871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规则管线确定性路由</a:t>
            </a:r>
            <a:endParaRPr lang="en-US" sz="15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476625"/>
            <a:ext cx="3181350" cy="61912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04875" y="3476030"/>
            <a:ext cx="301778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匹配 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motion / ALFF / ReHo /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平滑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全流程</a:t>
            </a:r>
            <a:endParaRPr lang="en-US" sz="15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4095750"/>
            <a:ext cx="3181350" cy="4191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04875" y="4171355"/>
            <a:ext cx="28039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plan-only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目标只产计划、零执行</a:t>
            </a:r>
            <a:endParaRPr lang="en-US" sz="15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4514850"/>
            <a:ext cx="3181350" cy="97155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904875" y="4590455"/>
            <a:ext cx="2953048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不匹配 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→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UNSUPPORTED_GOAL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，进入目标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修订</a:t>
            </a:r>
            <a:endParaRPr lang="en-US" sz="15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5300" y="1895475"/>
            <a:ext cx="3619500" cy="3829050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4375" y="2152650"/>
            <a:ext cx="419100" cy="41910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4524375" y="2696914"/>
            <a:ext cx="148962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Goal Contract</a:t>
            </a:r>
            <a:endParaRPr lang="en-US" sz="1800" dirty="0"/>
          </a:p>
        </p:txBody>
      </p:sp>
      <p:sp>
        <p:nvSpPr>
          <p:cNvPr id="20" name="Text 8"/>
          <p:cNvSpPr/>
          <p:nvPr/>
        </p:nvSpPr>
        <p:spPr>
          <a:xfrm>
            <a:off x="4524375" y="3066455"/>
            <a:ext cx="13122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语义与验收契约</a:t>
            </a:r>
            <a:endParaRPr lang="en-US" sz="1500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4375" y="3476625"/>
            <a:ext cx="3181350" cy="34290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4752975" y="3476030"/>
            <a:ext cx="20673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goal_kind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语义明确定义</a:t>
            </a:r>
            <a:endParaRPr lang="en-US" sz="150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4375" y="3819525"/>
            <a:ext cx="3181350" cy="695325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4752975" y="3895130"/>
            <a:ext cx="2224385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验收：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artifact_present /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reloadable / registered</a:t>
            </a:r>
            <a:endParaRPr lang="en-US" sz="1500" dirty="0"/>
          </a:p>
        </p:txBody>
      </p:sp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4375" y="4514850"/>
            <a:ext cx="3181350" cy="695325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4752975" y="4590455"/>
            <a:ext cx="20891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禁用标志：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simplified /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preview_only / partial</a:t>
            </a:r>
            <a:endParaRPr lang="en-US" sz="1500" dirty="0"/>
          </a:p>
        </p:txBody>
      </p:sp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1895475"/>
            <a:ext cx="3619500" cy="3829050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2475" y="2152650"/>
            <a:ext cx="419100" cy="419100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8372475" y="2696914"/>
            <a:ext cx="163919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Reviewed Plan</a:t>
            </a:r>
            <a:endParaRPr lang="en-US" sz="1800" dirty="0"/>
          </a:p>
        </p:txBody>
      </p:sp>
      <p:sp>
        <p:nvSpPr>
          <p:cNvPr id="30" name="Text 13"/>
          <p:cNvSpPr/>
          <p:nvPr/>
        </p:nvSpPr>
        <p:spPr>
          <a:xfrm>
            <a:off x="8372475" y="3066455"/>
            <a:ext cx="16871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哈希锚定的评审基线</a:t>
            </a:r>
            <a:endParaRPr lang="en-US" sz="1500" dirty="0"/>
          </a:p>
        </p:txBody>
      </p:sp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72475" y="3476625"/>
            <a:ext cx="3181350" cy="34290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8601075" y="3476030"/>
            <a:ext cx="2203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SHA-256 plan_hash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锚定</a:t>
            </a:r>
            <a:endParaRPr lang="en-US" sz="1500" dirty="0"/>
          </a:p>
        </p:txBody>
      </p:sp>
      <p:pic>
        <p:nvPicPr>
          <p:cNvPr id="3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72475" y="3819525"/>
            <a:ext cx="3181350" cy="419100"/>
          </a:xfrm>
          <a:prstGeom prst="rect">
            <a:avLst/>
          </a:prstGeom>
        </p:spPr>
      </p:pic>
      <p:sp>
        <p:nvSpPr>
          <p:cNvPr id="34" name="Text 15"/>
          <p:cNvSpPr/>
          <p:nvPr/>
        </p:nvSpPr>
        <p:spPr>
          <a:xfrm>
            <a:off x="8601075" y="3895130"/>
            <a:ext cx="21355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SQLite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索引 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+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不可变快照</a:t>
            </a:r>
            <a:endParaRPr lang="en-US" sz="1500" dirty="0"/>
          </a:p>
        </p:txBody>
      </p:sp>
      <p:pic>
        <p:nvPicPr>
          <p:cNvPr id="3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2475" y="4238625"/>
            <a:ext cx="3181350" cy="695325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8601075" y="4314230"/>
            <a:ext cx="299338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未评审 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= NEEDS_GOAL_REVIEW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拒绝执行</a:t>
            </a:r>
            <a:endParaRPr lang="en-US" sz="1500" dirty="0"/>
          </a:p>
        </p:txBody>
      </p:sp>
      <p:pic>
        <p:nvPicPr>
          <p:cNvPr id="3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6334125"/>
            <a:ext cx="342900" cy="9525"/>
          </a:xfrm>
          <a:prstGeom prst="rect">
            <a:avLst/>
          </a:prstGeom>
        </p:spPr>
      </p:pic>
      <p:sp>
        <p:nvSpPr>
          <p:cNvPr id="38" name="Text 17"/>
          <p:cNvSpPr/>
          <p:nvPr/>
        </p:nvSpPr>
        <p:spPr>
          <a:xfrm>
            <a:off x="914400" y="6200775"/>
            <a:ext cx="52409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默认规划引擎为确定性规则引擎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LLM provider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接口默认禁用</a:t>
            </a:r>
            <a:endParaRPr lang="en-US" sz="1500" dirty="0"/>
          </a:p>
        </p:txBody>
      </p:sp>
      <p:pic>
        <p:nvPicPr>
          <p:cNvPr id="3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915400" y="3581400"/>
            <a:ext cx="3276600" cy="3276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419100"/>
            <a:ext cx="198105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生命周期 · 双轨投影</a:t>
            </a:r>
            <a:endParaRPr lang="en-US" sz="1500" dirty="0"/>
          </a:p>
        </p:txBody>
      </p:sp>
      <p:sp>
        <p:nvSpPr>
          <p:cNvPr id="6" name="Text 1"/>
          <p:cNvSpPr/>
          <p:nvPr/>
        </p:nvSpPr>
        <p:spPr>
          <a:xfrm>
            <a:off x="609600" y="733425"/>
            <a:ext cx="653206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Agent Task 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生命周期：内部 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25 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态，对外 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5 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态</a:t>
            </a:r>
            <a:endParaRPr lang="en-US" sz="255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95400"/>
            <a:ext cx="685800" cy="190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09600" y="1515219"/>
            <a:ext cx="581620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8A8178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25</a:t>
            </a:r>
            <a:endParaRPr lang="en-US" sz="3900" dirty="0"/>
          </a:p>
        </p:txBody>
      </p:sp>
      <p:sp>
        <p:nvSpPr>
          <p:cNvPr id="9" name="Text 3"/>
          <p:cNvSpPr/>
          <p:nvPr/>
        </p:nvSpPr>
        <p:spPr>
          <a:xfrm>
            <a:off x="1343620" y="1496169"/>
            <a:ext cx="11248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内部编排机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343620" y="1827609"/>
            <a:ext cx="16656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六组状态 · 受控迁移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14550"/>
            <a:ext cx="5067300" cy="4476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09600" y="2199382"/>
            <a:ext cx="2190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1009650" y="2180332"/>
            <a:ext cx="6186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规划组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3360986" y="2199382"/>
            <a:ext cx="231115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目标解析与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Reviewed Plan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562225"/>
            <a:ext cx="5067300" cy="4476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09600" y="2647057"/>
            <a:ext cx="2190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1009650" y="2628007"/>
            <a:ext cx="6186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审批组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3786188" y="2647057"/>
            <a:ext cx="18859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等待审批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批准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拒绝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009900"/>
            <a:ext cx="5067300" cy="4476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09600" y="3094732"/>
            <a:ext cx="2190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1009650" y="3075682"/>
            <a:ext cx="6186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执行组</a:t>
            </a:r>
            <a:endParaRPr lang="en-US" sz="1650" dirty="0"/>
          </a:p>
        </p:txBody>
      </p:sp>
      <p:sp>
        <p:nvSpPr>
          <p:cNvPr id="22" name="Text 13"/>
          <p:cNvSpPr/>
          <p:nvPr/>
        </p:nvSpPr>
        <p:spPr>
          <a:xfrm>
            <a:off x="4019252" y="3094732"/>
            <a:ext cx="16528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ticket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派发与运行流</a:t>
            </a:r>
            <a:endParaRPr lang="en-US" sz="15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457575"/>
            <a:ext cx="5067300" cy="44767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09600" y="3542407"/>
            <a:ext cx="2190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15"/>
          <p:cNvSpPr/>
          <p:nvPr/>
        </p:nvSpPr>
        <p:spPr>
          <a:xfrm>
            <a:off x="1009650" y="3523357"/>
            <a:ext cx="10310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观察评估组</a:t>
            </a:r>
            <a:endParaRPr lang="en-US" sz="1650" dirty="0"/>
          </a:p>
        </p:txBody>
      </p:sp>
      <p:sp>
        <p:nvSpPr>
          <p:cNvPr id="26" name="Text 16"/>
          <p:cNvSpPr/>
          <p:nvPr/>
        </p:nvSpPr>
        <p:spPr>
          <a:xfrm>
            <a:off x="3985022" y="3542407"/>
            <a:ext cx="16871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有界对账与结果评估</a:t>
            </a:r>
            <a:endParaRPr lang="en-US" sz="15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905250"/>
            <a:ext cx="5067300" cy="44767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09600" y="3990082"/>
            <a:ext cx="2190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18"/>
          <p:cNvSpPr/>
          <p:nvPr/>
        </p:nvSpPr>
        <p:spPr>
          <a:xfrm>
            <a:off x="1009650" y="3971032"/>
            <a:ext cx="6186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恢复组</a:t>
            </a:r>
            <a:endParaRPr lang="en-US" sz="1650" dirty="0"/>
          </a:p>
        </p:txBody>
      </p:sp>
      <p:sp>
        <p:nvSpPr>
          <p:cNvPr id="30" name="Text 19"/>
          <p:cNvSpPr/>
          <p:nvPr/>
        </p:nvSpPr>
        <p:spPr>
          <a:xfrm>
            <a:off x="3985022" y="3990082"/>
            <a:ext cx="16871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失败重试与人工移交</a:t>
            </a:r>
            <a:endParaRPr lang="en-US" sz="1500" dirty="0"/>
          </a:p>
        </p:txBody>
      </p:sp>
      <p:sp>
        <p:nvSpPr>
          <p:cNvPr id="31" name="Text 20"/>
          <p:cNvSpPr/>
          <p:nvPr/>
        </p:nvSpPr>
        <p:spPr>
          <a:xfrm>
            <a:off x="609600" y="4437757"/>
            <a:ext cx="21907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21"/>
          <p:cNvSpPr/>
          <p:nvPr/>
        </p:nvSpPr>
        <p:spPr>
          <a:xfrm>
            <a:off x="1009650" y="4418707"/>
            <a:ext cx="824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四个终态</a:t>
            </a:r>
            <a:endParaRPr lang="en-US" sz="1650" dirty="0"/>
          </a:p>
        </p:txBody>
      </p:sp>
      <p:sp>
        <p:nvSpPr>
          <p:cNvPr id="33" name="Text 22"/>
          <p:cNvSpPr/>
          <p:nvPr/>
        </p:nvSpPr>
        <p:spPr>
          <a:xfrm>
            <a:off x="3218111" y="4437757"/>
            <a:ext cx="24540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完成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取消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失败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目标满足</a:t>
            </a:r>
            <a:endParaRPr lang="en-US" sz="15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810125"/>
            <a:ext cx="5067300" cy="2667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09600" y="4809530"/>
            <a:ext cx="37504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示例</a:t>
            </a:r>
            <a:endParaRPr lang="en-US" sz="1500" dirty="0"/>
          </a:p>
        </p:txBody>
      </p:sp>
      <p:sp>
        <p:nvSpPr>
          <p:cNvPr id="36" name="Text 24"/>
          <p:cNvSpPr/>
          <p:nvPr/>
        </p:nvSpPr>
        <p:spPr>
          <a:xfrm>
            <a:off x="1079897" y="4809530"/>
            <a:ext cx="8319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CREATED</a:t>
            </a:r>
            <a:endParaRPr lang="en-US" sz="1500" dirty="0"/>
          </a:p>
        </p:txBody>
      </p:sp>
      <p:sp>
        <p:nvSpPr>
          <p:cNvPr id="37" name="Text 25"/>
          <p:cNvSpPr/>
          <p:nvPr/>
        </p:nvSpPr>
        <p:spPr>
          <a:xfrm>
            <a:off x="2273796" y="4809530"/>
            <a:ext cx="2067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…</a:t>
            </a:r>
            <a:endParaRPr lang="en-US" sz="1500" dirty="0"/>
          </a:p>
        </p:txBody>
      </p:sp>
      <p:sp>
        <p:nvSpPr>
          <p:cNvPr id="38" name="Text 26"/>
          <p:cNvSpPr/>
          <p:nvPr/>
        </p:nvSpPr>
        <p:spPr>
          <a:xfrm>
            <a:off x="2842468" y="4809530"/>
            <a:ext cx="15460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GOAL_SATISFIED</a:t>
            </a:r>
            <a:endParaRPr lang="en-US" sz="15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095875"/>
            <a:ext cx="5067300" cy="53340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62000" y="5095577"/>
            <a:ext cx="29070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乐观锁防并发迁移，绑定漂移防护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LIFECYCLE_BINDING_DRIFT</a:t>
            </a:r>
            <a:endParaRPr lang="en-US" sz="15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686425"/>
            <a:ext cx="5067300" cy="26670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762000" y="5686127"/>
            <a:ext cx="296346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RUNNING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只能人工移交，不可取消</a:t>
            </a:r>
            <a:endParaRPr lang="en-US" sz="15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1524000"/>
            <a:ext cx="5495925" cy="4429125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519863" y="1515219"/>
            <a:ext cx="290810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8A8178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5</a:t>
            </a:r>
            <a:endParaRPr lang="en-US" sz="3900" dirty="0"/>
          </a:p>
        </p:txBody>
      </p:sp>
      <p:sp>
        <p:nvSpPr>
          <p:cNvPr id="45" name="Text 30"/>
          <p:cNvSpPr/>
          <p:nvPr/>
        </p:nvSpPr>
        <p:spPr>
          <a:xfrm>
            <a:off x="6963073" y="1496169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对外安全投影</a:t>
            </a:r>
            <a:endParaRPr lang="en-US" sz="1800" dirty="0"/>
          </a:p>
        </p:txBody>
      </p:sp>
      <p:sp>
        <p:nvSpPr>
          <p:cNvPr id="46" name="Text 31"/>
          <p:cNvSpPr/>
          <p:nvPr/>
        </p:nvSpPr>
        <p:spPr>
          <a:xfrm>
            <a:off x="6963073" y="1827609"/>
            <a:ext cx="12906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公共可见 · 只读</a:t>
            </a:r>
            <a:endParaRPr lang="en-US" sz="15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4625" y="2238375"/>
            <a:ext cx="5067300" cy="447675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519863" y="2309217"/>
            <a:ext cx="104179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preparing</a:t>
            </a:r>
            <a:endParaRPr lang="en-US" sz="1650" dirty="0"/>
          </a:p>
        </p:txBody>
      </p:sp>
      <p:sp>
        <p:nvSpPr>
          <p:cNvPr id="49" name="Text 33"/>
          <p:cNvSpPr/>
          <p:nvPr/>
        </p:nvSpPr>
        <p:spPr>
          <a:xfrm>
            <a:off x="10082659" y="2328267"/>
            <a:ext cx="14997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计划与证据准备中</a:t>
            </a:r>
            <a:endParaRPr lang="en-US" sz="150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4625" y="2686050"/>
            <a:ext cx="5067300" cy="447675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6519863" y="2756892"/>
            <a:ext cx="1752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waiting_for_user</a:t>
            </a:r>
            <a:endParaRPr lang="en-US" sz="1650" dirty="0"/>
          </a:p>
        </p:txBody>
      </p:sp>
      <p:sp>
        <p:nvSpPr>
          <p:cNvPr id="52" name="Text 35"/>
          <p:cNvSpPr/>
          <p:nvPr/>
        </p:nvSpPr>
        <p:spPr>
          <a:xfrm>
            <a:off x="9895284" y="2775942"/>
            <a:ext cx="16871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等待用户输入或审批</a:t>
            </a:r>
            <a:endParaRPr lang="en-US" sz="1500" dirty="0"/>
          </a:p>
        </p:txBody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24625" y="3133725"/>
            <a:ext cx="5067300" cy="447675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6519863" y="3204567"/>
            <a:ext cx="82882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running</a:t>
            </a:r>
            <a:endParaRPr lang="en-US" sz="1650" dirty="0"/>
          </a:p>
        </p:txBody>
      </p:sp>
      <p:sp>
        <p:nvSpPr>
          <p:cNvPr id="55" name="Text 37"/>
          <p:cNvSpPr/>
          <p:nvPr/>
        </p:nvSpPr>
        <p:spPr>
          <a:xfrm>
            <a:off x="9520386" y="3223617"/>
            <a:ext cx="206201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执行中，前端仅轮询投影</a:t>
            </a:r>
            <a:endParaRPr lang="en-US" sz="1500" dirty="0"/>
          </a:p>
        </p:txBody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4625" y="3581400"/>
            <a:ext cx="5067300" cy="447675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6519863" y="3652242"/>
            <a:ext cx="170244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needs_attention</a:t>
            </a:r>
            <a:endParaRPr lang="en-US" sz="1650" dirty="0"/>
          </a:p>
        </p:txBody>
      </p:sp>
      <p:sp>
        <p:nvSpPr>
          <p:cNvPr id="58" name="Text 39"/>
          <p:cNvSpPr/>
          <p:nvPr/>
        </p:nvSpPr>
        <p:spPr>
          <a:xfrm>
            <a:off x="9895284" y="3671292"/>
            <a:ext cx="16871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需要注意或补充决策</a:t>
            </a:r>
            <a:endParaRPr lang="en-US" sz="1500" dirty="0"/>
          </a:p>
        </p:txBody>
      </p:sp>
      <p:sp>
        <p:nvSpPr>
          <p:cNvPr id="59" name="Text 40"/>
          <p:cNvSpPr/>
          <p:nvPr/>
        </p:nvSpPr>
        <p:spPr>
          <a:xfrm>
            <a:off x="6519863" y="4099917"/>
            <a:ext cx="111576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completed</a:t>
            </a:r>
            <a:endParaRPr lang="en-US" sz="1650" dirty="0"/>
          </a:p>
        </p:txBody>
      </p:sp>
      <p:sp>
        <p:nvSpPr>
          <p:cNvPr id="60" name="Text 41"/>
          <p:cNvSpPr/>
          <p:nvPr/>
        </p:nvSpPr>
        <p:spPr>
          <a:xfrm>
            <a:off x="9707761" y="4118967"/>
            <a:ext cx="18746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终态呈现，结果可读取</a:t>
            </a:r>
            <a:endParaRPr lang="en-US" sz="1500" dirty="0"/>
          </a:p>
        </p:txBody>
      </p:sp>
      <p:sp>
        <p:nvSpPr>
          <p:cNvPr id="61" name="Text 42"/>
          <p:cNvSpPr/>
          <p:nvPr/>
        </p:nvSpPr>
        <p:spPr>
          <a:xfrm>
            <a:off x="6519863" y="4619625"/>
            <a:ext cx="12482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CQRS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三件套</a:t>
            </a:r>
            <a:endParaRPr lang="en-US" sz="1500" dirty="0"/>
          </a:p>
        </p:txBody>
      </p:sp>
      <p:sp>
        <p:nvSpPr>
          <p:cNvPr id="62" name="Text 43"/>
          <p:cNvSpPr/>
          <p:nvPr/>
        </p:nvSpPr>
        <p:spPr>
          <a:xfrm>
            <a:off x="6519863" y="4962525"/>
            <a:ext cx="159900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CommandService</a:t>
            </a:r>
            <a:endParaRPr lang="en-US" sz="1500" dirty="0"/>
          </a:p>
        </p:txBody>
      </p:sp>
      <p:sp>
        <p:nvSpPr>
          <p:cNvPr id="63" name="Text 44"/>
          <p:cNvSpPr/>
          <p:nvPr/>
        </p:nvSpPr>
        <p:spPr>
          <a:xfrm>
            <a:off x="9166920" y="4962525"/>
            <a:ext cx="2415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写侧 · 生命周期命令唯一入口</a:t>
            </a:r>
            <a:endParaRPr lang="en-US" sz="1500" dirty="0"/>
          </a:p>
        </p:txBody>
      </p:sp>
      <p:sp>
        <p:nvSpPr>
          <p:cNvPr id="64" name="Text 45"/>
          <p:cNvSpPr/>
          <p:nvPr/>
        </p:nvSpPr>
        <p:spPr>
          <a:xfrm>
            <a:off x="6519863" y="5305425"/>
            <a:ext cx="10322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ReadModel</a:t>
            </a:r>
            <a:endParaRPr lang="en-US" sz="1500" dirty="0"/>
          </a:p>
        </p:txBody>
      </p:sp>
      <p:sp>
        <p:nvSpPr>
          <p:cNvPr id="65" name="Text 46"/>
          <p:cNvSpPr/>
          <p:nvPr/>
        </p:nvSpPr>
        <p:spPr>
          <a:xfrm>
            <a:off x="9916716" y="5305425"/>
            <a:ext cx="16656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读侧 · 对外投影视图</a:t>
            </a:r>
            <a:endParaRPr lang="en-US" sz="1500" dirty="0"/>
          </a:p>
        </p:txBody>
      </p:sp>
      <p:sp>
        <p:nvSpPr>
          <p:cNvPr id="66" name="Text 47"/>
          <p:cNvSpPr/>
          <p:nvPr/>
        </p:nvSpPr>
        <p:spPr>
          <a:xfrm>
            <a:off x="6519863" y="5648325"/>
            <a:ext cx="94565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Reconciler</a:t>
            </a:r>
            <a:endParaRPr lang="en-US" sz="1500" dirty="0"/>
          </a:p>
        </p:txBody>
      </p:sp>
      <p:sp>
        <p:nvSpPr>
          <p:cNvPr id="67" name="Text 48"/>
          <p:cNvSpPr/>
          <p:nvPr/>
        </p:nvSpPr>
        <p:spPr>
          <a:xfrm>
            <a:off x="9409361" y="5648325"/>
            <a:ext cx="21730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有界对账与单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owner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监控</a:t>
            </a:r>
            <a:endParaRPr lang="en-US" sz="1500" dirty="0"/>
          </a:p>
        </p:txBody>
      </p:sp>
      <p:pic>
        <p:nvPicPr>
          <p:cNvPr id="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6124575"/>
            <a:ext cx="10972800" cy="428625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4206478" y="6267450"/>
            <a:ext cx="37788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AgentTask </a:t>
            </a: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是读投影，不是第二状态机</a:t>
            </a:r>
            <a:endParaRPr lang="en-US" sz="1650" dirty="0"/>
          </a:p>
        </p:txBody>
      </p:sp>
      <p:pic>
        <p:nvPicPr>
          <p:cNvPr id="7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8991600" y="381000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" y="381000"/>
            <a:ext cx="480253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APPROVAL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EXECUTION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TRUST CHAIN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33400" y="714375"/>
            <a:ext cx="761910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审批与执行链：从 </a:t>
            </a:r>
            <a:r>
              <a:rPr lang="en-US" sz="24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Approval Summary </a:t>
            </a:r>
            <a:r>
              <a:rPr lang="zh-CN" altLang="en-US" sz="24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到唯一 </a:t>
            </a:r>
            <a:r>
              <a:rPr lang="en-US" sz="24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Gateway</a:t>
            </a:r>
            <a:endParaRPr lang="en-US" sz="2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5730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24000"/>
            <a:ext cx="3581400" cy="24955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1647825"/>
            <a:ext cx="3143250" cy="39052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52475" y="1646188"/>
            <a:ext cx="32295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3"/>
          <p:cNvSpPr/>
          <p:nvPr/>
        </p:nvSpPr>
        <p:spPr>
          <a:xfrm>
            <a:off x="752475" y="2065288"/>
            <a:ext cx="210621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Approval Summary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752475" y="2463403"/>
            <a:ext cx="3184773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summary_hash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TTL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write_roots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全量持久化，写根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必须落在项目已批准边界内。</a:t>
            </a:r>
            <a:endParaRPr lang="en-US" sz="18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5300" y="1524000"/>
            <a:ext cx="3581400" cy="24955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375" y="1647825"/>
            <a:ext cx="3143250" cy="39052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524375" y="1646188"/>
            <a:ext cx="32295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02</a:t>
            </a:r>
            <a:endParaRPr lang="en-US" sz="1950" dirty="0"/>
          </a:p>
        </p:txBody>
      </p:sp>
      <p:sp>
        <p:nvSpPr>
          <p:cNvPr id="15" name="Text 6"/>
          <p:cNvSpPr/>
          <p:nvPr/>
        </p:nvSpPr>
        <p:spPr>
          <a:xfrm>
            <a:off x="4524375" y="2065288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三方哈希校验</a:t>
            </a:r>
            <a:endParaRPr lang="en-US" sz="1800" dirty="0"/>
          </a:p>
        </p:txBody>
      </p:sp>
      <p:sp>
        <p:nvSpPr>
          <p:cNvPr id="16" name="Text 7"/>
          <p:cNvSpPr/>
          <p:nvPr/>
        </p:nvSpPr>
        <p:spPr>
          <a:xfrm>
            <a:off x="4524375" y="2463403"/>
            <a:ext cx="3402062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三方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hash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plan_hash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全部一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致方可继续，任一不符即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APPROVAL_SUMMARY_STALE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。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1524000"/>
            <a:ext cx="3581400" cy="2495550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6275" y="1647825"/>
            <a:ext cx="3143250" cy="390525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8296275" y="1646188"/>
            <a:ext cx="32295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03</a:t>
            </a:r>
            <a:endParaRPr lang="en-US" sz="1950" dirty="0"/>
          </a:p>
        </p:txBody>
      </p:sp>
      <p:sp>
        <p:nvSpPr>
          <p:cNvPr id="20" name="Text 9"/>
          <p:cNvSpPr/>
          <p:nvPr/>
        </p:nvSpPr>
        <p:spPr>
          <a:xfrm>
            <a:off x="8296275" y="2065288"/>
            <a:ext cx="11248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审批人身份</a:t>
            </a:r>
            <a:endParaRPr lang="en-US" sz="1800" dirty="0"/>
          </a:p>
        </p:txBody>
      </p:sp>
      <p:sp>
        <p:nvSpPr>
          <p:cNvPr id="21" name="Text 10"/>
          <p:cNvSpPr/>
          <p:nvPr/>
        </p:nvSpPr>
        <p:spPr>
          <a:xfrm>
            <a:off x="8296275" y="2463403"/>
            <a:ext cx="3038624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actor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仅取自服务端配置的令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牌，请求体不可指定，身份与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范围由后端裁决。</a:t>
            </a:r>
            <a:endParaRPr lang="en-US" sz="18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171950"/>
            <a:ext cx="3581400" cy="2495550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4295775"/>
            <a:ext cx="3143250" cy="390525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752475" y="4294138"/>
            <a:ext cx="32295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04</a:t>
            </a:r>
            <a:endParaRPr lang="en-US" sz="1950" dirty="0"/>
          </a:p>
        </p:txBody>
      </p:sp>
      <p:sp>
        <p:nvSpPr>
          <p:cNvPr id="25" name="Text 12"/>
          <p:cNvSpPr/>
          <p:nvPr/>
        </p:nvSpPr>
        <p:spPr>
          <a:xfrm>
            <a:off x="752475" y="4713238"/>
            <a:ext cx="179159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审批绑定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dry-run</a:t>
            </a:r>
            <a:endParaRPr lang="en-US" sz="1800" dirty="0"/>
          </a:p>
        </p:txBody>
      </p:sp>
      <p:sp>
        <p:nvSpPr>
          <p:cNvPr id="26" name="Text 13"/>
          <p:cNvSpPr/>
          <p:nvPr/>
        </p:nvSpPr>
        <p:spPr>
          <a:xfrm>
            <a:off x="752475" y="5111353"/>
            <a:ext cx="3274516" cy="137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审批绑定后先运行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dry-run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，失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败即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AGENT_DRY_RUN_BLOCKED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规划阶段零副作用。</a:t>
            </a:r>
            <a:endParaRPr lang="en-US" sz="18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5300" y="4171950"/>
            <a:ext cx="3581400" cy="2495550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4375" y="4295775"/>
            <a:ext cx="3143250" cy="390525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4524375" y="4294138"/>
            <a:ext cx="32295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05</a:t>
            </a:r>
            <a:endParaRPr lang="en-US" sz="1950" dirty="0"/>
          </a:p>
        </p:txBody>
      </p:sp>
      <p:sp>
        <p:nvSpPr>
          <p:cNvPr id="30" name="Text 15"/>
          <p:cNvSpPr/>
          <p:nvPr/>
        </p:nvSpPr>
        <p:spPr>
          <a:xfrm>
            <a:off x="4524375" y="4713238"/>
            <a:ext cx="174515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Execution Ticket</a:t>
            </a:r>
            <a:endParaRPr lang="en-US" sz="1800" dirty="0"/>
          </a:p>
        </p:txBody>
      </p:sp>
      <p:sp>
        <p:nvSpPr>
          <p:cNvPr id="31" name="Text 16"/>
          <p:cNvSpPr/>
          <p:nvPr/>
        </p:nvSpPr>
        <p:spPr>
          <a:xfrm>
            <a:off x="4524375" y="5111353"/>
            <a:ext cx="3226594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canonical_hash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绑定计划、审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批人、节点参数、写根与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allowlist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指纹，一次性消费。</a:t>
            </a:r>
            <a:endParaRPr lang="en-US" sz="180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4171950"/>
            <a:ext cx="3581400" cy="2495550"/>
          </a:xfrm>
          <a:prstGeom prst="rect">
            <a:avLst/>
          </a:prstGeom>
        </p:spPr>
      </p:pic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96275" y="4295775"/>
            <a:ext cx="3143250" cy="390525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8296275" y="4294138"/>
            <a:ext cx="32295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06</a:t>
            </a:r>
            <a:endParaRPr lang="en-US" sz="1950" dirty="0"/>
          </a:p>
        </p:txBody>
      </p:sp>
      <p:sp>
        <p:nvSpPr>
          <p:cNvPr id="35" name="Text 18"/>
          <p:cNvSpPr/>
          <p:nvPr/>
        </p:nvSpPr>
        <p:spPr>
          <a:xfrm>
            <a:off x="8296275" y="4713238"/>
            <a:ext cx="258693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唯一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Execution Gateway</a:t>
            </a:r>
            <a:endParaRPr lang="en-US" sz="1800" dirty="0"/>
          </a:p>
        </p:txBody>
      </p:sp>
      <p:sp>
        <p:nvSpPr>
          <p:cNvPr id="36" name="Text 19"/>
          <p:cNvSpPr/>
          <p:nvPr/>
        </p:nvSpPr>
        <p:spPr>
          <a:xfrm>
            <a:off x="8296275" y="5111353"/>
            <a:ext cx="3218111" cy="137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先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validate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，再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consume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，最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后注入哨兵上下文；入口清单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fail-closed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，缺失即拒绝放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行。</a:t>
            </a:r>
            <a:endParaRPr lang="en-US" sz="1800" dirty="0"/>
          </a:p>
        </p:txBody>
      </p:sp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8877300" y="3543300"/>
            <a:ext cx="3276600" cy="3276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" y="457200"/>
            <a:ext cx="15122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运行时执行框架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33400" y="771525"/>
            <a:ext cx="629736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Pipeline Runtime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：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DAG 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编排与被试级调度</a:t>
            </a:r>
            <a:endParaRPr lang="en-US" sz="2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3350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00200"/>
            <a:ext cx="5467350" cy="239077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1800225"/>
            <a:ext cx="381000" cy="3810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304925" y="1820019"/>
            <a:ext cx="196244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DAG </a:t>
            </a: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拓扑与依赖门</a:t>
            </a:r>
            <a:endParaRPr lang="en-US" sz="1875" dirty="0"/>
          </a:p>
        </p:txBody>
      </p:sp>
      <p:sp>
        <p:nvSpPr>
          <p:cNvPr id="10" name="Text 3"/>
          <p:cNvSpPr/>
          <p:nvPr/>
        </p:nvSpPr>
        <p:spPr>
          <a:xfrm>
            <a:off x="790575" y="2391519"/>
            <a:ext cx="5010596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节点按 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DAG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拓扑顺序执行；依赖门在每个节点启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动前校验，依赖未全部 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SUCCESS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则该节点直接失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败。</a:t>
            </a:r>
            <a:endParaRPr lang="en-US" sz="18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600200"/>
            <a:ext cx="5467350" cy="2390775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1800225"/>
            <a:ext cx="381000" cy="3810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6962775" y="1820019"/>
            <a:ext cx="21580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被试级 </a:t>
            </a:r>
            <a:r>
              <a:rPr 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fan-out </a:t>
            </a: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调度</a:t>
            </a:r>
            <a:endParaRPr lang="en-US" sz="1875" dirty="0"/>
          </a:p>
        </p:txBody>
      </p:sp>
      <p:sp>
        <p:nvSpPr>
          <p:cNvPr id="14" name="Text 5"/>
          <p:cNvSpPr/>
          <p:nvPr/>
        </p:nvSpPr>
        <p:spPr>
          <a:xfrm>
            <a:off x="6448425" y="2391519"/>
            <a:ext cx="4889897" cy="137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以 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ThreadPoolExecutor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并发调度各被试；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workers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上限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8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GPU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上限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4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；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gpu_mode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分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prefer / require / off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三档，无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GPU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时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require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即失败。</a:t>
            </a:r>
            <a:endParaRPr lang="en-US" sz="18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181475"/>
            <a:ext cx="5467350" cy="2390775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4381500"/>
            <a:ext cx="381000" cy="38100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304925" y="4398913"/>
            <a:ext cx="16402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失败处理与终态</a:t>
            </a:r>
            <a:endParaRPr lang="en-US" sz="1875" dirty="0"/>
          </a:p>
        </p:txBody>
      </p:sp>
      <p:sp>
        <p:nvSpPr>
          <p:cNvPr id="18" name="Text 7"/>
          <p:cNvSpPr/>
          <p:nvPr/>
        </p:nvSpPr>
        <p:spPr>
          <a:xfrm>
            <a:off x="790575" y="4970413"/>
            <a:ext cx="4791373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failed_subjects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自动剔除后续阶段；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stop_on_failure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可立即中止整体流程，终态为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SUCCESS / PARTIAL / FAILED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。</a:t>
            </a:r>
            <a:endParaRPr lang="en-US" sz="180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4181475"/>
            <a:ext cx="5467350" cy="2390775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4381500"/>
            <a:ext cx="381000" cy="38100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6962775" y="4398913"/>
            <a:ext cx="11715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状态持久化</a:t>
            </a:r>
            <a:endParaRPr lang="en-US" sz="1875" dirty="0"/>
          </a:p>
        </p:txBody>
      </p:sp>
      <p:sp>
        <p:nvSpPr>
          <p:cNvPr id="22" name="Text 9"/>
          <p:cNvSpPr/>
          <p:nvPr/>
        </p:nvSpPr>
        <p:spPr>
          <a:xfrm>
            <a:off x="6448425" y="4970413"/>
            <a:ext cx="4860578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在 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work/states/&lt;run_id&gt;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下记录节点级状态，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并将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pipeline summary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落盘，运行全程可溯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源、可恢复。</a:t>
            </a:r>
            <a:endParaRPr lang="en-US" sz="180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334500" y="3886200"/>
            <a:ext cx="2781300" cy="27813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85750"/>
            <a:ext cx="241205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节点注册表 · 插件族一览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457200" y="581025"/>
            <a:ext cx="487754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5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插件式节点注册表与 </a:t>
            </a:r>
            <a:r>
              <a:rPr lang="en-US" sz="25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Tool Catalog</a:t>
            </a:r>
            <a:endParaRPr lang="en-US" sz="2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04900"/>
            <a:ext cx="685800" cy="190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670256" y="495300"/>
            <a:ext cx="206454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21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约 </a:t>
            </a:r>
            <a:r>
              <a:rPr lang="en-US" sz="21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90 </a:t>
            </a:r>
            <a:r>
              <a:rPr lang="zh-CN" altLang="en-US" sz="21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个 </a:t>
            </a:r>
            <a:r>
              <a:rPr lang="en-US" sz="21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node_id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10231487" y="910530"/>
            <a:ext cx="150331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重复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ID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必须失败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2724150" cy="224790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1533525"/>
            <a:ext cx="323850" cy="3238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73906" y="1558230"/>
            <a:ext cx="522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I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1057275" y="1525488"/>
            <a:ext cx="46940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core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638175" y="1967805"/>
            <a:ext cx="2253407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环境检查 · 合成数据 ·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数据检视</a:t>
            </a:r>
            <a:endParaRPr lang="en-US" sz="18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1371600"/>
            <a:ext cx="2724150" cy="2247900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5675" y="1533525"/>
            <a:ext cx="323850" cy="32385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600599" y="1558230"/>
            <a:ext cx="10447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II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3910013" y="1525488"/>
            <a:ext cx="118392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conversion</a:t>
            </a:r>
            <a:endParaRPr lang="en-US" sz="1800" dirty="0"/>
          </a:p>
        </p:txBody>
      </p:sp>
      <p:sp>
        <p:nvSpPr>
          <p:cNvPr id="18" name="Text 9"/>
          <p:cNvSpPr/>
          <p:nvPr/>
        </p:nvSpPr>
        <p:spPr>
          <a:xfrm>
            <a:off x="3490913" y="1967805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受控转换节点</a:t>
            </a:r>
            <a:endParaRPr lang="en-US" sz="18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5" y="1371600"/>
            <a:ext cx="2724150" cy="2247900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1533525"/>
            <a:ext cx="323850" cy="32385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427143" y="1558230"/>
            <a:ext cx="1567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III</a:t>
            </a:r>
            <a:endParaRPr lang="en-US" sz="1500" dirty="0"/>
          </a:p>
        </p:txBody>
      </p:sp>
      <p:sp>
        <p:nvSpPr>
          <p:cNvPr id="22" name="Text 11"/>
          <p:cNvSpPr/>
          <p:nvPr/>
        </p:nvSpPr>
        <p:spPr>
          <a:xfrm>
            <a:off x="6762750" y="1525488"/>
            <a:ext cx="43070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gpu</a:t>
            </a:r>
            <a:endParaRPr lang="en-US" sz="1800" dirty="0"/>
          </a:p>
        </p:txBody>
      </p:sp>
      <p:sp>
        <p:nvSpPr>
          <p:cNvPr id="23" name="Text 12"/>
          <p:cNvSpPr/>
          <p:nvPr/>
        </p:nvSpPr>
        <p:spPr>
          <a:xfrm>
            <a:off x="6343650" y="1967805"/>
            <a:ext cx="2393752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可选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CuPy runner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，自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动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CPU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回退</a:t>
            </a:r>
            <a:endParaRPr lang="en-US" sz="18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0175" y="1371600"/>
            <a:ext cx="2724150" cy="2247900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1150" y="1533525"/>
            <a:ext cx="323850" cy="32385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9273332" y="1558230"/>
            <a:ext cx="16981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IV</a:t>
            </a:r>
            <a:endParaRPr lang="en-US" sz="1500" dirty="0"/>
          </a:p>
        </p:txBody>
      </p:sp>
      <p:sp>
        <p:nvSpPr>
          <p:cNvPr id="27" name="Text 14"/>
          <p:cNvSpPr/>
          <p:nvPr/>
        </p:nvSpPr>
        <p:spPr>
          <a:xfrm>
            <a:off x="9615488" y="1525488"/>
            <a:ext cx="162594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native_preproc</a:t>
            </a:r>
            <a:endParaRPr lang="en-US" sz="1800" dirty="0"/>
          </a:p>
        </p:txBody>
      </p:sp>
      <p:sp>
        <p:nvSpPr>
          <p:cNvPr id="28" name="Text 15"/>
          <p:cNvSpPr/>
          <p:nvPr/>
        </p:nvSpPr>
        <p:spPr>
          <a:xfrm>
            <a:off x="9196388" y="1967805"/>
            <a:ext cx="2389138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full dry-run /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execute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24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个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stage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边界节点强制收敛</a:t>
            </a:r>
            <a:endParaRPr lang="en-US" sz="18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3743325"/>
            <a:ext cx="2724150" cy="2247900"/>
          </a:xfrm>
          <a:prstGeom prst="rect">
            <a:avLst/>
          </a:prstGeom>
        </p:spPr>
      </p:pic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" y="3905250"/>
            <a:ext cx="323850" cy="323850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741313" y="3932783"/>
            <a:ext cx="1175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V</a:t>
            </a:r>
            <a:endParaRPr lang="en-US" sz="1500" dirty="0"/>
          </a:p>
        </p:txBody>
      </p:sp>
      <p:sp>
        <p:nvSpPr>
          <p:cNvPr id="32" name="Text 17"/>
          <p:cNvSpPr/>
          <p:nvPr/>
        </p:nvSpPr>
        <p:spPr>
          <a:xfrm>
            <a:off x="1057275" y="3900041"/>
            <a:ext cx="25911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qc</a:t>
            </a:r>
            <a:endParaRPr lang="en-US" sz="1800" dirty="0"/>
          </a:p>
        </p:txBody>
      </p:sp>
      <p:sp>
        <p:nvSpPr>
          <p:cNvPr id="33" name="Text 18"/>
          <p:cNvSpPr/>
          <p:nvPr/>
        </p:nvSpPr>
        <p:spPr>
          <a:xfrm>
            <a:off x="638175" y="4342358"/>
            <a:ext cx="144646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14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个报告节点</a:t>
            </a:r>
            <a:endParaRPr lang="en-US" sz="18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14700" y="3743325"/>
            <a:ext cx="2724150" cy="2247900"/>
          </a:xfrm>
          <a:prstGeom prst="rect">
            <a:avLst/>
          </a:prstGeom>
        </p:spPr>
      </p:pic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95675" y="3905250"/>
            <a:ext cx="323850" cy="323850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3567857" y="3932783"/>
            <a:ext cx="16981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VI</a:t>
            </a:r>
            <a:endParaRPr lang="en-US" sz="1500" dirty="0"/>
          </a:p>
        </p:txBody>
      </p:sp>
      <p:sp>
        <p:nvSpPr>
          <p:cNvPr id="37" name="Text 20"/>
          <p:cNvSpPr/>
          <p:nvPr/>
        </p:nvSpPr>
        <p:spPr>
          <a:xfrm>
            <a:off x="3910013" y="3900041"/>
            <a:ext cx="63445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rsfmri</a:t>
            </a:r>
            <a:endParaRPr lang="en-US" sz="1800" dirty="0"/>
          </a:p>
        </p:txBody>
      </p:sp>
      <p:sp>
        <p:nvSpPr>
          <p:cNvPr id="38" name="Text 21"/>
          <p:cNvSpPr/>
          <p:nvPr/>
        </p:nvSpPr>
        <p:spPr>
          <a:xfrm>
            <a:off x="3490913" y="4342358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原生计算</a:t>
            </a:r>
            <a:endParaRPr lang="en-US" sz="18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2675" y="3743325"/>
            <a:ext cx="2724150" cy="2247900"/>
          </a:xfrm>
          <a:prstGeom prst="rect">
            <a:avLst/>
          </a:prstGeom>
        </p:spPr>
      </p:pic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43650" y="3905250"/>
            <a:ext cx="323850" cy="323850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6394549" y="3932783"/>
            <a:ext cx="22205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VII</a:t>
            </a:r>
            <a:endParaRPr lang="en-US" sz="1500" dirty="0"/>
          </a:p>
        </p:txBody>
      </p:sp>
      <p:sp>
        <p:nvSpPr>
          <p:cNvPr id="42" name="Text 23"/>
          <p:cNvSpPr/>
          <p:nvPr/>
        </p:nvSpPr>
        <p:spPr>
          <a:xfrm>
            <a:off x="6762750" y="3900041"/>
            <a:ext cx="6691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report</a:t>
            </a:r>
            <a:endParaRPr lang="en-US" sz="1800" dirty="0"/>
          </a:p>
        </p:txBody>
      </p:sp>
      <p:sp>
        <p:nvSpPr>
          <p:cNvPr id="43" name="Text 24"/>
          <p:cNvSpPr/>
          <p:nvPr/>
        </p:nvSpPr>
        <p:spPr>
          <a:xfrm>
            <a:off x="6343650" y="4342358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报告生成</a:t>
            </a:r>
            <a:endParaRPr lang="en-US" sz="1800" dirty="0"/>
          </a:p>
        </p:txBody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0175" y="3743325"/>
            <a:ext cx="2724150" cy="2247900"/>
          </a:xfrm>
          <a:prstGeom prst="rect">
            <a:avLst/>
          </a:prstGeom>
        </p:spPr>
      </p:pic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01150" y="3905250"/>
            <a:ext cx="323850" cy="323850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9221242" y="3932783"/>
            <a:ext cx="2741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VIII</a:t>
            </a:r>
            <a:endParaRPr lang="en-US" sz="1500" dirty="0"/>
          </a:p>
        </p:txBody>
      </p:sp>
      <p:sp>
        <p:nvSpPr>
          <p:cNvPr id="47" name="Text 26"/>
          <p:cNvSpPr/>
          <p:nvPr/>
        </p:nvSpPr>
        <p:spPr>
          <a:xfrm>
            <a:off x="9615488" y="3900041"/>
            <a:ext cx="133379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trike="sngStrike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spm / dpabi</a:t>
            </a:r>
            <a:endParaRPr lang="en-US" sz="1800" dirty="0"/>
          </a:p>
        </p:txBody>
      </p:sp>
      <p:sp>
        <p:nvSpPr>
          <p:cNvPr id="48" name="Text 27"/>
          <p:cNvSpPr/>
          <p:nvPr/>
        </p:nvSpPr>
        <p:spPr>
          <a:xfrm>
            <a:off x="9196388" y="4342358"/>
            <a:ext cx="2363837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外部执行节点已全部替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换为退役拦截器（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fail-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closed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）</a:t>
            </a:r>
            <a:endParaRPr lang="en-US" sz="1800" dirty="0"/>
          </a:p>
        </p:txBody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6153150"/>
            <a:ext cx="11277600" cy="419100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457200" y="6301680"/>
            <a:ext cx="6195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联动链</a:t>
            </a:r>
            <a:endParaRPr lang="en-US" sz="1500" dirty="0"/>
          </a:p>
        </p:txBody>
      </p:sp>
      <p:sp>
        <p:nvSpPr>
          <p:cNvPr id="51" name="Text 29"/>
          <p:cNvSpPr/>
          <p:nvPr/>
        </p:nvSpPr>
        <p:spPr>
          <a:xfrm>
            <a:off x="1267271" y="6269385"/>
            <a:ext cx="157951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Catalog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元数据</a:t>
            </a:r>
            <a:endParaRPr lang="en-US" sz="1800" dirty="0"/>
          </a:p>
        </p:txBody>
      </p:sp>
      <p:sp>
        <p:nvSpPr>
          <p:cNvPr id="52" name="Text 30"/>
          <p:cNvSpPr/>
          <p:nvPr/>
        </p:nvSpPr>
        <p:spPr>
          <a:xfrm>
            <a:off x="3380184" y="6269385"/>
            <a:ext cx="208359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plan_validator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清单</a:t>
            </a:r>
            <a:endParaRPr lang="en-US" sz="1800" dirty="0"/>
          </a:p>
        </p:txBody>
      </p:sp>
      <p:sp>
        <p:nvSpPr>
          <p:cNvPr id="53" name="Text 31"/>
          <p:cNvSpPr/>
          <p:nvPr/>
        </p:nvSpPr>
        <p:spPr>
          <a:xfrm>
            <a:off x="5997178" y="6269385"/>
            <a:ext cx="205472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Approval Gate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决策</a:t>
            </a:r>
            <a:endParaRPr lang="en-US" sz="1800" dirty="0"/>
          </a:p>
        </p:txBody>
      </p:sp>
      <p:pic>
        <p:nvPicPr>
          <p:cNvPr id="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029700" y="3733800"/>
            <a:ext cx="2819400" cy="281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04800"/>
            <a:ext cx="30980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受控转换 · 安全边界 · 证据等级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457200" y="581025"/>
            <a:ext cx="521419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DICOM </a:t>
            </a:r>
            <a:r>
              <a:rPr lang="zh-CN" altLang="en-US" sz="22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受控转换：默认拒绝，凭证据放行</a:t>
            </a:r>
            <a:endParaRPr lang="en-US" sz="22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8585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5543550" cy="256222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457325"/>
            <a:ext cx="342900" cy="3429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133475" y="1458813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默认阻断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5541169" y="1491555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676275" y="1910655"/>
            <a:ext cx="202450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五重闸门，逐条校验</a:t>
            </a:r>
            <a:endParaRPr lang="en-US" sz="1800" dirty="0"/>
          </a:p>
        </p:txBody>
      </p:sp>
      <p:sp>
        <p:nvSpPr>
          <p:cNvPr id="12" name="Text 5"/>
          <p:cNvSpPr/>
          <p:nvPr/>
        </p:nvSpPr>
        <p:spPr>
          <a:xfrm>
            <a:off x="676275" y="2349550"/>
            <a:ext cx="139020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三重转换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flag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275" y="2428875"/>
            <a:ext cx="9525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342704" y="2349550"/>
            <a:ext cx="130998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release 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审批</a:t>
            </a:r>
            <a:endParaRPr lang="en-US" sz="18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2428875"/>
            <a:ext cx="9525" cy="17145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928914" y="2349550"/>
            <a:ext cx="67493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审计包</a:t>
            </a:r>
            <a:endParaRPr lang="en-US" sz="1800" dirty="0"/>
          </a:p>
        </p:txBody>
      </p:sp>
      <p:sp>
        <p:nvSpPr>
          <p:cNvPr id="17" name="Text 8"/>
          <p:cNvSpPr/>
          <p:nvPr/>
        </p:nvSpPr>
        <p:spPr>
          <a:xfrm>
            <a:off x="676275" y="2750344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回滚检查</a:t>
            </a:r>
            <a:endParaRPr lang="en-US" sz="18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975" y="2828925"/>
            <a:ext cx="9525" cy="1714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852315" y="2750344"/>
            <a:ext cx="11248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依赖可用性</a:t>
            </a:r>
            <a:endParaRPr lang="en-US" sz="18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3209925"/>
            <a:ext cx="5105400" cy="40005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76275" y="3331815"/>
            <a:ext cx="14997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全部满足才可执行</a:t>
            </a:r>
            <a:endParaRPr lang="en-US" sz="15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0" y="1257300"/>
            <a:ext cx="5543550" cy="2562225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1457325"/>
            <a:ext cx="342900" cy="3429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6867525" y="1458813"/>
            <a:ext cx="22526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项目内 </a:t>
            </a:r>
            <a:r>
              <a:rPr 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Python </a:t>
            </a: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转换器</a:t>
            </a:r>
            <a:endParaRPr lang="en-US" sz="1800" dirty="0"/>
          </a:p>
        </p:txBody>
      </p:sp>
      <p:sp>
        <p:nvSpPr>
          <p:cNvPr id="25" name="Text 12"/>
          <p:cNvSpPr/>
          <p:nvPr/>
        </p:nvSpPr>
        <p:spPr>
          <a:xfrm>
            <a:off x="11275219" y="1491555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02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6410325" y="1910655"/>
            <a:ext cx="292432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内置实现，不引入外部工具链</a:t>
            </a:r>
            <a:endParaRPr lang="en-US" sz="18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2371725"/>
            <a:ext cx="5105400" cy="32385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638925" y="2368600"/>
            <a:ext cx="34946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不依赖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dcm2niix / MATLAB / SPM</a:t>
            </a:r>
            <a:endParaRPr lang="en-US" sz="18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25" y="2752725"/>
            <a:ext cx="5105400" cy="323850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638925" y="2750344"/>
            <a:ext cx="434072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支持经典单帧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MR 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Siemens 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单帧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mosaic</a:t>
            </a:r>
            <a:endParaRPr lang="en-US" sz="180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0325" y="3209925"/>
            <a:ext cx="5105400" cy="400050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6410325" y="3331815"/>
            <a:ext cx="18746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其余格式一律安全拒绝</a:t>
            </a:r>
            <a:endParaRPr lang="en-US" sz="1500" dirty="0"/>
          </a:p>
        </p:txBody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000500"/>
            <a:ext cx="5543550" cy="2562225"/>
          </a:xfrm>
          <a:prstGeom prst="rect">
            <a:avLst/>
          </a:prstGeom>
        </p:spPr>
      </p:pic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4200525"/>
            <a:ext cx="342900" cy="342900"/>
          </a:xfrm>
          <a:prstGeom prst="rect">
            <a:avLst/>
          </a:prstGeom>
        </p:spPr>
      </p:pic>
      <p:sp>
        <p:nvSpPr>
          <p:cNvPr id="35" name="Text 17"/>
          <p:cNvSpPr/>
          <p:nvPr/>
        </p:nvSpPr>
        <p:spPr>
          <a:xfrm>
            <a:off x="1133475" y="4203948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安全边界</a:t>
            </a:r>
            <a:endParaRPr lang="en-US" sz="1800" dirty="0"/>
          </a:p>
        </p:txBody>
      </p:sp>
      <p:sp>
        <p:nvSpPr>
          <p:cNvPr id="36" name="Text 18"/>
          <p:cNvSpPr/>
          <p:nvPr/>
        </p:nvSpPr>
        <p:spPr>
          <a:xfrm>
            <a:off x="5541169" y="423669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03</a:t>
            </a:r>
            <a:endParaRPr lang="en-US" sz="1500" dirty="0"/>
          </a:p>
        </p:txBody>
      </p:sp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4676775"/>
            <a:ext cx="5105400" cy="323850"/>
          </a:xfrm>
          <a:prstGeom prst="rect">
            <a:avLst/>
          </a:prstGeom>
        </p:spPr>
      </p:pic>
      <p:sp>
        <p:nvSpPr>
          <p:cNvPr id="38" name="Text 19"/>
          <p:cNvSpPr/>
          <p:nvPr/>
        </p:nvSpPr>
        <p:spPr>
          <a:xfrm>
            <a:off x="904875" y="4674840"/>
            <a:ext cx="388739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rawdata 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执行前后文件数与校验和不变</a:t>
            </a:r>
            <a:endParaRPr lang="en-US" sz="1800" dirty="0"/>
          </a:p>
        </p:txBody>
      </p:sp>
      <p:pic>
        <p:nvPicPr>
          <p:cNvPr id="3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6275" y="5057775"/>
            <a:ext cx="5105400" cy="323850"/>
          </a:xfrm>
          <a:prstGeom prst="rect">
            <a:avLst/>
          </a:prstGeom>
        </p:spPr>
      </p:pic>
      <p:sp>
        <p:nvSpPr>
          <p:cNvPr id="40" name="Text 20"/>
          <p:cNvSpPr/>
          <p:nvPr/>
        </p:nvSpPr>
        <p:spPr>
          <a:xfrm>
            <a:off x="904875" y="5056584"/>
            <a:ext cx="32463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输出仅限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converted_bids/ 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目录</a:t>
            </a:r>
            <a:endParaRPr lang="en-US" sz="1800" dirty="0"/>
          </a:p>
        </p:txBody>
      </p:sp>
      <p:pic>
        <p:nvPicPr>
          <p:cNvPr id="4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6275" y="5438775"/>
            <a:ext cx="5105400" cy="323850"/>
          </a:xfrm>
          <a:prstGeom prst="rect">
            <a:avLst/>
          </a:prstGeom>
        </p:spPr>
      </p:pic>
      <p:sp>
        <p:nvSpPr>
          <p:cNvPr id="42" name="Text 21"/>
          <p:cNvSpPr/>
          <p:nvPr/>
        </p:nvSpPr>
        <p:spPr>
          <a:xfrm>
            <a:off x="904875" y="5438329"/>
            <a:ext cx="258261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overwrite = fail_if_exists</a:t>
            </a:r>
            <a:endParaRPr lang="en-US" sz="1800" dirty="0"/>
          </a:p>
        </p:txBody>
      </p:sp>
      <p:pic>
        <p:nvPicPr>
          <p:cNvPr id="4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6275" y="5953125"/>
            <a:ext cx="5105400" cy="400050"/>
          </a:xfrm>
          <a:prstGeom prst="rect">
            <a:avLst/>
          </a:prstGeom>
        </p:spPr>
      </p:pic>
      <p:sp>
        <p:nvSpPr>
          <p:cNvPr id="44" name="Text 22"/>
          <p:cNvSpPr/>
          <p:nvPr/>
        </p:nvSpPr>
        <p:spPr>
          <a:xfrm>
            <a:off x="676275" y="6076950"/>
            <a:ext cx="28118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输入只读，输出受限，覆盖即失败</a:t>
            </a:r>
            <a:endParaRPr lang="en-US" sz="1500" dirty="0"/>
          </a:p>
        </p:txBody>
      </p:sp>
      <p:pic>
        <p:nvPicPr>
          <p:cNvPr id="4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91250" y="4000500"/>
            <a:ext cx="5543550" cy="2562225"/>
          </a:xfrm>
          <a:prstGeom prst="rect">
            <a:avLst/>
          </a:prstGeom>
        </p:spPr>
      </p:pic>
      <p:pic>
        <p:nvPicPr>
          <p:cNvPr id="4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10325" y="4200525"/>
            <a:ext cx="342900" cy="342900"/>
          </a:xfrm>
          <a:prstGeom prst="rect">
            <a:avLst/>
          </a:prstGeom>
        </p:spPr>
      </p:pic>
      <p:sp>
        <p:nvSpPr>
          <p:cNvPr id="47" name="Text 23"/>
          <p:cNvSpPr/>
          <p:nvPr/>
        </p:nvSpPr>
        <p:spPr>
          <a:xfrm>
            <a:off x="6867525" y="4203948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证据等级</a:t>
            </a:r>
            <a:endParaRPr lang="en-US" sz="1800" dirty="0"/>
          </a:p>
        </p:txBody>
      </p:sp>
      <p:sp>
        <p:nvSpPr>
          <p:cNvPr id="48" name="Text 24"/>
          <p:cNvSpPr/>
          <p:nvPr/>
        </p:nvSpPr>
        <p:spPr>
          <a:xfrm>
            <a:off x="11275219" y="4236690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04</a:t>
            </a:r>
            <a:endParaRPr lang="en-US" sz="1500" dirty="0"/>
          </a:p>
        </p:txBody>
      </p:sp>
      <p:pic>
        <p:nvPicPr>
          <p:cNvPr id="4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10325" y="4676775"/>
            <a:ext cx="5105400" cy="323850"/>
          </a:xfrm>
          <a:prstGeom prst="rect">
            <a:avLst/>
          </a:prstGeom>
        </p:spPr>
      </p:pic>
      <p:sp>
        <p:nvSpPr>
          <p:cNvPr id="50" name="Text 25"/>
          <p:cNvSpPr/>
          <p:nvPr/>
        </p:nvSpPr>
        <p:spPr>
          <a:xfrm>
            <a:off x="6638925" y="4674840"/>
            <a:ext cx="471844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Reference Validated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：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3 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被试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6 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对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NIfTI/JSON</a:t>
            </a:r>
            <a:endParaRPr lang="en-US" sz="1800" dirty="0"/>
          </a:p>
        </p:txBody>
      </p:sp>
      <p:pic>
        <p:nvPicPr>
          <p:cNvPr id="5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10325" y="5057775"/>
            <a:ext cx="5105400" cy="323850"/>
          </a:xfrm>
          <a:prstGeom prst="rect">
            <a:avLst/>
          </a:prstGeom>
        </p:spPr>
      </p:pic>
      <p:sp>
        <p:nvSpPr>
          <p:cNvPr id="52" name="Text 26"/>
          <p:cNvSpPr/>
          <p:nvPr/>
        </p:nvSpPr>
        <p:spPr>
          <a:xfrm>
            <a:off x="6638925" y="5056584"/>
            <a:ext cx="396359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打包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sidecar / API </a:t>
            </a: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三被试工作流已验证</a:t>
            </a:r>
            <a:endParaRPr lang="en-US" sz="1800" dirty="0"/>
          </a:p>
        </p:txBody>
      </p:sp>
      <p:pic>
        <p:nvPicPr>
          <p:cNvPr id="5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10325" y="5438775"/>
            <a:ext cx="5105400" cy="323850"/>
          </a:xfrm>
          <a:prstGeom prst="rect">
            <a:avLst/>
          </a:prstGeom>
        </p:spPr>
      </p:pic>
      <p:sp>
        <p:nvSpPr>
          <p:cNvPr id="54" name="Text 27"/>
          <p:cNvSpPr/>
          <p:nvPr/>
        </p:nvSpPr>
        <p:spPr>
          <a:xfrm>
            <a:off x="6638925" y="5438329"/>
            <a:ext cx="230296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可见 </a:t>
            </a:r>
            <a:r>
              <a:rPr lang="en-US" sz="1800" dirty="0">
                <a:solidFill>
                  <a:srgbClr val="1A1A1A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GUI E2E pending</a:t>
            </a:r>
            <a:endParaRPr lang="en-US" sz="1800" dirty="0"/>
          </a:p>
        </p:txBody>
      </p:sp>
      <p:pic>
        <p:nvPicPr>
          <p:cNvPr id="5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10325" y="5953125"/>
            <a:ext cx="5105400" cy="400050"/>
          </a:xfrm>
          <a:prstGeom prst="rect">
            <a:avLst/>
          </a:prstGeom>
        </p:spPr>
      </p:pic>
      <p:sp>
        <p:nvSpPr>
          <p:cNvPr id="56" name="Text 28"/>
          <p:cNvSpPr/>
          <p:nvPr/>
        </p:nvSpPr>
        <p:spPr>
          <a:xfrm>
            <a:off x="6410325" y="6076950"/>
            <a:ext cx="224953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等级不升级，边界如实标注</a:t>
            </a:r>
            <a:endParaRPr lang="en-US" sz="1500" dirty="0"/>
          </a:p>
        </p:txBody>
      </p:sp>
      <p:pic>
        <p:nvPicPr>
          <p:cNvPr id="5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486900" y="4152900"/>
            <a:ext cx="2476500" cy="2476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" y="304800"/>
            <a:ext cx="469671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PIPELINE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阶段时间线 · 诚实标注能力等级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33400" y="600075"/>
            <a:ext cx="5166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5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原生 </a:t>
            </a:r>
            <a:r>
              <a:rPr lang="en-US" sz="255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24</a:t>
            </a:r>
            <a:r>
              <a:rPr lang="en-US" sz="25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 </a:t>
            </a:r>
            <a:r>
              <a:rPr lang="zh-CN" altLang="en-US" sz="25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阶段 </a:t>
            </a:r>
            <a:r>
              <a:rPr lang="en-US" sz="25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rs-fMRI </a:t>
            </a:r>
            <a:r>
              <a:rPr lang="zh-CN" altLang="en-US" sz="25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预处理流水线</a:t>
            </a:r>
            <a:endParaRPr lang="en-US" sz="2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4300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733550"/>
            <a:ext cx="11125200" cy="54292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78644" y="1807220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933450" y="1795760"/>
            <a:ext cx="824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数据接入</a:t>
            </a:r>
            <a:endParaRPr lang="en-US" sz="16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0" y="1733550"/>
            <a:ext cx="1114425" cy="4191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333625" y="1797695"/>
            <a:ext cx="824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输入验证</a:t>
            </a:r>
            <a:endParaRPr lang="en-US" sz="16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475" y="1733550"/>
            <a:ext cx="1323975" cy="4191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558480" y="1797695"/>
            <a:ext cx="10310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层时间校正</a:t>
            </a:r>
            <a:endParaRPr lang="en-US" sz="16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8225" y="1733550"/>
            <a:ext cx="2085975" cy="4191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989612" y="1797695"/>
            <a:ext cx="824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头动校正</a:t>
            </a:r>
            <a:endParaRPr lang="en-US" sz="1650" dirty="0"/>
          </a:p>
        </p:txBody>
      </p:sp>
      <p:sp>
        <p:nvSpPr>
          <p:cNvPr id="16" name="Text 7"/>
          <p:cNvSpPr/>
          <p:nvPr/>
        </p:nvSpPr>
        <p:spPr>
          <a:xfrm>
            <a:off x="5890617" y="1821507"/>
            <a:ext cx="8953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simplified</a:t>
            </a:r>
            <a:endParaRPr lang="en-US" sz="13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975" y="1733550"/>
            <a:ext cx="1333500" cy="4191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186017" y="1797695"/>
            <a:ext cx="104343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motion QC</a:t>
            </a:r>
            <a:endParaRPr lang="en-US" sz="165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600325"/>
            <a:ext cx="11125200" cy="54292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78644" y="2673995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0"/>
          <p:cNvSpPr/>
          <p:nvPr/>
        </p:nvSpPr>
        <p:spPr>
          <a:xfrm>
            <a:off x="933450" y="2662535"/>
            <a:ext cx="824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空间处理</a:t>
            </a:r>
            <a:endParaRPr lang="en-US" sz="165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0750" y="2600325"/>
            <a:ext cx="1676400" cy="4191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2333625" y="2664470"/>
            <a:ext cx="41240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配准</a:t>
            </a:r>
            <a:endParaRPr lang="en-US" sz="1650" dirty="0"/>
          </a:p>
        </p:txBody>
      </p:sp>
      <p:sp>
        <p:nvSpPr>
          <p:cNvPr id="24" name="Text 12"/>
          <p:cNvSpPr/>
          <p:nvPr/>
        </p:nvSpPr>
        <p:spPr>
          <a:xfrm>
            <a:off x="2822228" y="2688282"/>
            <a:ext cx="8953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simplified</a:t>
            </a:r>
            <a:endParaRPr lang="en-US" sz="13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1925" y="2600325"/>
            <a:ext cx="1676400" cy="4191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4117628" y="2664470"/>
            <a:ext cx="41240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分割</a:t>
            </a:r>
            <a:endParaRPr lang="en-US" sz="1650" dirty="0"/>
          </a:p>
        </p:txBody>
      </p:sp>
      <p:sp>
        <p:nvSpPr>
          <p:cNvPr id="27" name="Text 14"/>
          <p:cNvSpPr/>
          <p:nvPr/>
        </p:nvSpPr>
        <p:spPr>
          <a:xfrm>
            <a:off x="4606230" y="2688282"/>
            <a:ext cx="8953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simplified</a:t>
            </a:r>
            <a:endParaRPr lang="en-US" sz="13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2625" y="2600325"/>
            <a:ext cx="2000250" cy="4191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901630" y="2664470"/>
            <a:ext cx="61867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标准化</a:t>
            </a:r>
            <a:endParaRPr lang="en-US" sz="1650" dirty="0"/>
          </a:p>
        </p:txBody>
      </p:sp>
      <p:sp>
        <p:nvSpPr>
          <p:cNvPr id="30" name="Text 16"/>
          <p:cNvSpPr/>
          <p:nvPr/>
        </p:nvSpPr>
        <p:spPr>
          <a:xfrm>
            <a:off x="6596509" y="2688282"/>
            <a:ext cx="101322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affine_only</a:t>
            </a:r>
            <a:endParaRPr lang="en-US" sz="13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7650" y="2600325"/>
            <a:ext cx="704850" cy="41910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8009781" y="2664470"/>
            <a:ext cx="41240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平滑</a:t>
            </a:r>
            <a:endParaRPr lang="en-US" sz="1650" dirty="0"/>
          </a:p>
        </p:txBody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3467100"/>
            <a:ext cx="11125200" cy="542925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578644" y="3540770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03</a:t>
            </a:r>
            <a:endParaRPr lang="en-US" sz="1500" dirty="0"/>
          </a:p>
        </p:txBody>
      </p:sp>
      <p:sp>
        <p:nvSpPr>
          <p:cNvPr id="35" name="Text 19"/>
          <p:cNvSpPr/>
          <p:nvPr/>
        </p:nvSpPr>
        <p:spPr>
          <a:xfrm>
            <a:off x="933450" y="3529310"/>
            <a:ext cx="824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时间清理</a:t>
            </a:r>
            <a:endParaRPr lang="en-US" sz="1650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0750" y="3467100"/>
            <a:ext cx="1114425" cy="41910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2333625" y="3531245"/>
            <a:ext cx="824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混杂回归</a:t>
            </a:r>
            <a:endParaRPr lang="en-US" sz="1650" dirty="0"/>
          </a:p>
        </p:txBody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19475" y="3467100"/>
            <a:ext cx="1323975" cy="419100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3558480" y="3531245"/>
            <a:ext cx="10310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去线性漂移</a:t>
            </a:r>
            <a:endParaRPr lang="en-US" sz="1650" dirty="0"/>
          </a:p>
        </p:txBody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48225" y="3467100"/>
            <a:ext cx="1114425" cy="419100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4989612" y="3531245"/>
            <a:ext cx="82480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时间滤波</a:t>
            </a:r>
            <a:endParaRPr lang="en-US" sz="1650" dirty="0"/>
          </a:p>
        </p:txBody>
      </p:sp>
      <p:pic>
        <p:nvPicPr>
          <p:cNvPr id="4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3400" y="4333875"/>
            <a:ext cx="11125200" cy="542925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578644" y="4407545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04</a:t>
            </a:r>
            <a:endParaRPr lang="en-US" sz="1500" dirty="0"/>
          </a:p>
        </p:txBody>
      </p:sp>
      <p:sp>
        <p:nvSpPr>
          <p:cNvPr id="44" name="Text 24"/>
          <p:cNvSpPr/>
          <p:nvPr/>
        </p:nvSpPr>
        <p:spPr>
          <a:xfrm>
            <a:off x="933450" y="4396085"/>
            <a:ext cx="103108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指标与报告</a:t>
            </a:r>
            <a:endParaRPr lang="en-US" sz="1650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190750" y="4333875"/>
            <a:ext cx="1400175" cy="419100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2333625" y="4398020"/>
            <a:ext cx="11117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ALFF/fALFF</a:t>
            </a:r>
            <a:endParaRPr lang="en-US" sz="1650" dirty="0"/>
          </a:p>
        </p:txBody>
      </p:sp>
      <p:pic>
        <p:nvPicPr>
          <p:cNvPr id="4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05225" y="4333875"/>
            <a:ext cx="809625" cy="419100"/>
          </a:xfrm>
          <a:prstGeom prst="rect">
            <a:avLst/>
          </a:prstGeom>
        </p:spPr>
      </p:pic>
      <p:sp>
        <p:nvSpPr>
          <p:cNvPr id="48" name="Text 26"/>
          <p:cNvSpPr/>
          <p:nvPr/>
        </p:nvSpPr>
        <p:spPr>
          <a:xfrm>
            <a:off x="3845421" y="4398020"/>
            <a:ext cx="52357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ReHo</a:t>
            </a:r>
            <a:endParaRPr lang="en-US" sz="1650" dirty="0"/>
          </a:p>
        </p:txBody>
      </p:sp>
      <p:pic>
        <p:nvPicPr>
          <p:cNvPr id="4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29150" y="4333875"/>
            <a:ext cx="1562100" cy="419100"/>
          </a:xfrm>
          <a:prstGeom prst="rect">
            <a:avLst/>
          </a:prstGeom>
        </p:spPr>
      </p:pic>
      <p:sp>
        <p:nvSpPr>
          <p:cNvPr id="50" name="Text 27"/>
          <p:cNvSpPr/>
          <p:nvPr/>
        </p:nvSpPr>
        <p:spPr>
          <a:xfrm>
            <a:off x="4769048" y="4398020"/>
            <a:ext cx="12715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atlas/ROI/FC</a:t>
            </a:r>
            <a:endParaRPr lang="en-US" sz="1650" dirty="0"/>
          </a:p>
        </p:txBody>
      </p:sp>
      <p:pic>
        <p:nvPicPr>
          <p:cNvPr id="5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96025" y="4333875"/>
            <a:ext cx="1038225" cy="419100"/>
          </a:xfrm>
          <a:prstGeom prst="rect">
            <a:avLst/>
          </a:prstGeom>
        </p:spPr>
      </p:pic>
      <p:sp>
        <p:nvSpPr>
          <p:cNvPr id="52" name="Text 28"/>
          <p:cNvSpPr/>
          <p:nvPr/>
        </p:nvSpPr>
        <p:spPr>
          <a:xfrm>
            <a:off x="6440686" y="4398020"/>
            <a:ext cx="74756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被试 </a:t>
            </a:r>
            <a:r>
              <a:rPr 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QC</a:t>
            </a:r>
            <a:endParaRPr lang="en-US" sz="1650" dirty="0"/>
          </a:p>
        </p:txBody>
      </p:sp>
      <p:pic>
        <p:nvPicPr>
          <p:cNvPr id="5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48550" y="4333875"/>
            <a:ext cx="2047875" cy="419100"/>
          </a:xfrm>
          <a:prstGeom prst="rect">
            <a:avLst/>
          </a:prstGeom>
        </p:spPr>
      </p:pic>
      <p:sp>
        <p:nvSpPr>
          <p:cNvPr id="54" name="Text 29"/>
          <p:cNvSpPr/>
          <p:nvPr/>
        </p:nvSpPr>
        <p:spPr>
          <a:xfrm>
            <a:off x="7588300" y="4398020"/>
            <a:ext cx="175438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验证报告</a:t>
            </a:r>
            <a:r>
              <a:rPr 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</a:t>
            </a:r>
            <a:r>
              <a:rPr lang="zh-CN" altLang="en-US" sz="165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最终报告</a:t>
            </a:r>
            <a:endParaRPr lang="en-US" sz="1650" dirty="0"/>
          </a:p>
        </p:txBody>
      </p:sp>
      <p:pic>
        <p:nvPicPr>
          <p:cNvPr id="5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3400" y="5429250"/>
            <a:ext cx="171450" cy="171450"/>
          </a:xfrm>
          <a:prstGeom prst="rect">
            <a:avLst/>
          </a:prstGeom>
        </p:spPr>
      </p:pic>
      <p:sp>
        <p:nvSpPr>
          <p:cNvPr id="56" name="Text 30"/>
          <p:cNvSpPr/>
          <p:nvPr/>
        </p:nvSpPr>
        <p:spPr>
          <a:xfrm>
            <a:off x="790575" y="5385495"/>
            <a:ext cx="7499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完整实现</a:t>
            </a:r>
            <a:endParaRPr lang="en-US" sz="1500" dirty="0"/>
          </a:p>
        </p:txBody>
      </p:sp>
      <p:pic>
        <p:nvPicPr>
          <p:cNvPr id="5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28800" y="5429250"/>
            <a:ext cx="171450" cy="171450"/>
          </a:xfrm>
          <a:prstGeom prst="rect">
            <a:avLst/>
          </a:prstGeom>
        </p:spPr>
      </p:pic>
      <p:sp>
        <p:nvSpPr>
          <p:cNvPr id="58" name="Text 31"/>
          <p:cNvSpPr/>
          <p:nvPr/>
        </p:nvSpPr>
        <p:spPr>
          <a:xfrm>
            <a:off x="2083445" y="5385495"/>
            <a:ext cx="27434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simplified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简化实现，明确标注</a:t>
            </a:r>
            <a:endParaRPr lang="en-US" sz="1500" dirty="0"/>
          </a:p>
        </p:txBody>
      </p:sp>
      <p:pic>
        <p:nvPicPr>
          <p:cNvPr id="5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14925" y="5429250"/>
            <a:ext cx="171450" cy="171450"/>
          </a:xfrm>
          <a:prstGeom prst="rect">
            <a:avLst/>
          </a:prstGeom>
        </p:spPr>
      </p:pic>
      <p:sp>
        <p:nvSpPr>
          <p:cNvPr id="60" name="Text 32"/>
          <p:cNvSpPr/>
          <p:nvPr/>
        </p:nvSpPr>
        <p:spPr>
          <a:xfrm>
            <a:off x="5369868" y="5385495"/>
            <a:ext cx="21054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affine_only 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仅仿射变换</a:t>
            </a:r>
            <a:endParaRPr lang="en-US" sz="1500" dirty="0"/>
          </a:p>
        </p:txBody>
      </p:sp>
      <p:pic>
        <p:nvPicPr>
          <p:cNvPr id="6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3400" y="5781675"/>
            <a:ext cx="11125200" cy="809625"/>
          </a:xfrm>
          <a:prstGeom prst="rect">
            <a:avLst/>
          </a:prstGeom>
        </p:spPr>
      </p:pic>
      <p:sp>
        <p:nvSpPr>
          <p:cNvPr id="62" name="Text 33"/>
          <p:cNvSpPr/>
          <p:nvPr/>
        </p:nvSpPr>
        <p:spPr>
          <a:xfrm>
            <a:off x="533400" y="5928420"/>
            <a:ext cx="18752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注</a:t>
            </a:r>
            <a:endParaRPr lang="en-US" sz="1500" dirty="0"/>
          </a:p>
        </p:txBody>
      </p:sp>
      <p:sp>
        <p:nvSpPr>
          <p:cNvPr id="63" name="Text 34"/>
          <p:cNvSpPr/>
          <p:nvPr/>
        </p:nvSpPr>
        <p:spPr>
          <a:xfrm>
            <a:off x="835223" y="5928420"/>
            <a:ext cx="806410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真实数值实现（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numpy / scipy / nibabel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），不调用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MATLAB / SPM / DPABI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。</a:t>
            </a:r>
            <a:endParaRPr lang="en-US" sz="1800" dirty="0"/>
          </a:p>
        </p:txBody>
      </p:sp>
      <p:sp>
        <p:nvSpPr>
          <p:cNvPr id="64" name="Text 35"/>
          <p:cNvSpPr/>
          <p:nvPr/>
        </p:nvSpPr>
        <p:spPr>
          <a:xfrm>
            <a:off x="835223" y="6259860"/>
            <a:ext cx="423788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简化标注阻止相关阶段升级为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validated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。</a:t>
            </a:r>
            <a:endParaRPr lang="en-US" sz="1800" dirty="0"/>
          </a:p>
        </p:txBody>
      </p:sp>
      <p:pic>
        <p:nvPicPr>
          <p:cNvPr id="6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105900" y="3810000"/>
            <a:ext cx="2819400" cy="281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457200"/>
            <a:ext cx="198000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科学计算 · 数值可信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09600" y="742950"/>
            <a:ext cx="412402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科学计算验证：三层锁定</a:t>
            </a:r>
            <a:endParaRPr lang="en-US" sz="30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62075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609725"/>
            <a:ext cx="3486150" cy="39052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885950"/>
            <a:ext cx="419100" cy="4191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048941" y="1960215"/>
            <a:ext cx="546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I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866775" y="2445990"/>
            <a:ext cx="140374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Golden </a:t>
            </a:r>
            <a:r>
              <a:rPr lang="zh-CN" alt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回归</a:t>
            </a:r>
            <a:endParaRPr lang="en-US" sz="1950" dirty="0"/>
          </a:p>
        </p:txBody>
      </p:sp>
      <p:sp>
        <p:nvSpPr>
          <p:cNvPr id="11" name="Text 4"/>
          <p:cNvSpPr/>
          <p:nvPr/>
        </p:nvSpPr>
        <p:spPr>
          <a:xfrm>
            <a:off x="866775" y="2904976"/>
            <a:ext cx="3004393" cy="137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提交入库的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.npy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参考数组固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定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seed=42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，逐元素对比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ATOL 1e-5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，任何偏差立即报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警。</a:t>
            </a:r>
            <a:endParaRPr lang="en-US" sz="18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4876800"/>
            <a:ext cx="2962275" cy="40957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66775" y="5017889"/>
            <a:ext cx="22598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覆盖 </a:t>
            </a: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ALFF / fALFF kernel</a:t>
            </a:r>
            <a:endParaRPr lang="en-US" sz="15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925" y="1609725"/>
            <a:ext cx="3486150" cy="3905250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1885950"/>
            <a:ext cx="419100" cy="41910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768155" y="1960215"/>
            <a:ext cx="1090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II</a:t>
            </a:r>
            <a:endParaRPr lang="en-US" sz="1500" dirty="0"/>
          </a:p>
        </p:txBody>
      </p:sp>
      <p:sp>
        <p:nvSpPr>
          <p:cNvPr id="17" name="Text 7"/>
          <p:cNvSpPr/>
          <p:nvPr/>
        </p:nvSpPr>
        <p:spPr>
          <a:xfrm>
            <a:off x="4613225" y="2445990"/>
            <a:ext cx="146223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独立参考实现</a:t>
            </a:r>
            <a:endParaRPr lang="en-US" sz="1950" dirty="0"/>
          </a:p>
        </p:txBody>
      </p:sp>
      <p:sp>
        <p:nvSpPr>
          <p:cNvPr id="18" name="Text 8"/>
          <p:cNvSpPr/>
          <p:nvPr/>
        </p:nvSpPr>
        <p:spPr>
          <a:xfrm>
            <a:off x="4613225" y="2904976"/>
            <a:ext cx="3045916" cy="137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纯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NumPy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重写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FFT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Kendall's W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Pearson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，与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被测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kernel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无共享代码路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径，容差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1e-4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。</a:t>
            </a:r>
            <a:endParaRPr lang="en-US" sz="18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100" y="4876800"/>
            <a:ext cx="2962275" cy="409575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4613225" y="5017889"/>
            <a:ext cx="252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交叉验证 </a:t>
            </a: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FC Pearson kernel</a:t>
            </a:r>
            <a:endParaRPr lang="en-US" sz="15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5775" y="1609725"/>
            <a:ext cx="3486150" cy="3905250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2950" y="1885950"/>
            <a:ext cx="419100" cy="41910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8487370" y="1960215"/>
            <a:ext cx="1635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III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8359676" y="2445990"/>
            <a:ext cx="2019449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CPU / GPU </a:t>
            </a:r>
            <a:r>
              <a:rPr lang="zh-CN" alt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一致性</a:t>
            </a:r>
            <a:endParaRPr lang="en-US" sz="1950" dirty="0"/>
          </a:p>
        </p:txBody>
      </p:sp>
      <p:sp>
        <p:nvSpPr>
          <p:cNvPr id="25" name="Text 12"/>
          <p:cNvSpPr/>
          <p:nvPr/>
        </p:nvSpPr>
        <p:spPr>
          <a:xfrm>
            <a:off x="8359676" y="2904976"/>
            <a:ext cx="2813745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同一输入在双后端做容差对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比，一致性通过后方可启用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GPU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路径。</a:t>
            </a:r>
            <a:endParaRPr lang="en-US" sz="18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2950" y="4876800"/>
            <a:ext cx="2962275" cy="409575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8359676" y="5017889"/>
            <a:ext cx="29453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ReHo GPU </a:t>
            </a:r>
            <a:r>
              <a:rPr lang="zh-CN" alt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未验证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自动回退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CPU</a:t>
            </a:r>
            <a:endParaRPr lang="en-US" sz="15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734050"/>
            <a:ext cx="10972800" cy="742950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609600" y="6052245"/>
            <a:ext cx="8642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能力锚点</a:t>
            </a:r>
            <a:endParaRPr lang="en-US" sz="1500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19275" y="5895975"/>
            <a:ext cx="2438400" cy="581025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2092970" y="5884664"/>
            <a:ext cx="8862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ReHo CPU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2092970" y="6170414"/>
            <a:ext cx="189607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Golden Validated</a:t>
            </a:r>
            <a:endParaRPr lang="en-US" sz="1800" dirty="0"/>
          </a:p>
        </p:txBody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7675" y="5895975"/>
            <a:ext cx="2743200" cy="581025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4531965" y="5884664"/>
            <a:ext cx="161136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FC Pearson kernel</a:t>
            </a:r>
            <a:endParaRPr lang="en-US" sz="1500" dirty="0"/>
          </a:p>
        </p:txBody>
      </p:sp>
      <p:sp>
        <p:nvSpPr>
          <p:cNvPr id="35" name="Text 18"/>
          <p:cNvSpPr/>
          <p:nvPr/>
        </p:nvSpPr>
        <p:spPr>
          <a:xfrm>
            <a:off x="4531965" y="6170414"/>
            <a:ext cx="219789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Reference Validated</a:t>
            </a:r>
            <a:endParaRPr lang="en-US" sz="1800" dirty="0"/>
          </a:p>
        </p:txBody>
      </p:sp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00875" y="5895975"/>
            <a:ext cx="2247900" cy="581025"/>
          </a:xfrm>
          <a:prstGeom prst="rect">
            <a:avLst/>
          </a:prstGeom>
        </p:spPr>
      </p:pic>
      <p:sp>
        <p:nvSpPr>
          <p:cNvPr id="37" name="Text 19"/>
          <p:cNvSpPr/>
          <p:nvPr/>
        </p:nvSpPr>
        <p:spPr>
          <a:xfrm>
            <a:off x="7272784" y="5884664"/>
            <a:ext cx="170795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reference_pending</a:t>
            </a:r>
            <a:endParaRPr lang="en-US" sz="1500" dirty="0"/>
          </a:p>
        </p:txBody>
      </p:sp>
      <p:sp>
        <p:nvSpPr>
          <p:cNvPr id="38" name="Text 20"/>
          <p:cNvSpPr/>
          <p:nvPr/>
        </p:nvSpPr>
        <p:spPr>
          <a:xfrm>
            <a:off x="7272784" y="6170414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不得冒充通过</a:t>
            </a:r>
            <a:endParaRPr lang="en-US" sz="1800" dirty="0"/>
          </a:p>
        </p:txBody>
      </p:sp>
      <p:pic>
        <p:nvPicPr>
          <p:cNvPr id="3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610600" y="3352800"/>
            <a:ext cx="3276600" cy="3276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419100"/>
            <a:ext cx="195917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RESULT HONESTY</a:t>
            </a:r>
            <a:endParaRPr lang="en-US" sz="1500" dirty="0"/>
          </a:p>
        </p:txBody>
      </p:sp>
      <p:sp>
        <p:nvSpPr>
          <p:cNvPr id="6" name="Text 1"/>
          <p:cNvSpPr/>
          <p:nvPr/>
        </p:nvSpPr>
        <p:spPr>
          <a:xfrm>
            <a:off x="609600" y="714375"/>
            <a:ext cx="6165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结果诚实性：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Artifact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、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QC 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与 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Provenance</a:t>
            </a:r>
            <a:endParaRPr lang="en-US" sz="2550" dirty="0"/>
          </a:p>
        </p:txBody>
      </p:sp>
      <p:sp>
        <p:nvSpPr>
          <p:cNvPr id="7" name="Text 2"/>
          <p:cNvSpPr/>
          <p:nvPr/>
        </p:nvSpPr>
        <p:spPr>
          <a:xfrm>
            <a:off x="8531572" y="751433"/>
            <a:ext cx="289842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写入即注册 · 可重载才算完成</a:t>
            </a:r>
            <a:endParaRPr lang="en-US" sz="18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38250"/>
            <a:ext cx="685800" cy="1905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71600"/>
            <a:ext cx="5314950" cy="25146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66775" y="1515219"/>
            <a:ext cx="14733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01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ARTIFACT</a:t>
            </a:r>
            <a:endParaRPr lang="en-US" sz="15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1857375"/>
            <a:ext cx="342900" cy="34290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66775" y="2248644"/>
            <a:ext cx="141758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Artifact </a:t>
            </a:r>
            <a:r>
              <a:rPr lang="zh-CN" alt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注册</a:t>
            </a:r>
            <a:endParaRPr lang="en-US" sz="1950" dirty="0"/>
          </a:p>
        </p:txBody>
      </p:sp>
      <p:sp>
        <p:nvSpPr>
          <p:cNvPr id="13" name="Text 5"/>
          <p:cNvSpPr/>
          <p:nvPr/>
        </p:nvSpPr>
        <p:spPr>
          <a:xfrm>
            <a:off x="866775" y="2660005"/>
            <a:ext cx="418936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sha256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校验和与 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shape / dtype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校验，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source_artifact_ids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记录输入血缘。</a:t>
            </a:r>
            <a:endParaRPr lang="en-US" sz="18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050" y="1371600"/>
            <a:ext cx="5314950" cy="25146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372225" y="1515219"/>
            <a:ext cx="17539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02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VALIDATION</a:t>
            </a:r>
            <a:endParaRPr lang="en-US" sz="15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225" y="1857375"/>
            <a:ext cx="342900" cy="3429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372225" y="2248644"/>
            <a:ext cx="121845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真实性验证</a:t>
            </a:r>
            <a:endParaRPr lang="en-US" sz="1950" dirty="0"/>
          </a:p>
        </p:txBody>
      </p:sp>
      <p:sp>
        <p:nvSpPr>
          <p:cNvPr id="18" name="Text 8"/>
          <p:cNvSpPr/>
          <p:nvPr/>
        </p:nvSpPr>
        <p:spPr>
          <a:xfrm>
            <a:off x="6372225" y="2660005"/>
            <a:ext cx="4746724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诚实性检查拦截“声称计算但未计算”，完整可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重载的数值产物才标 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computed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。</a:t>
            </a:r>
            <a:endParaRPr lang="en-US" sz="18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076700"/>
            <a:ext cx="5314950" cy="25146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66775" y="4219873"/>
            <a:ext cx="165839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03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QC REPORT</a:t>
            </a:r>
            <a:endParaRPr lang="en-US" sz="15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5" y="4562475"/>
            <a:ext cx="342900" cy="3429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866775" y="4953298"/>
            <a:ext cx="20523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QC sidecar </a:t>
            </a:r>
            <a:r>
              <a:rPr lang="zh-CN" alt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与报告</a:t>
            </a:r>
            <a:endParaRPr lang="en-US" sz="1950" dirty="0"/>
          </a:p>
        </p:txBody>
      </p:sp>
      <p:sp>
        <p:nvSpPr>
          <p:cNvPr id="23" name="Text 11"/>
          <p:cNvSpPr/>
          <p:nvPr/>
        </p:nvSpPr>
        <p:spPr>
          <a:xfrm>
            <a:off x="866775" y="5364659"/>
            <a:ext cx="474880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stage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级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manifest / provenance / qc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原子写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入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sidecar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，报告范围显式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group_summary=false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。</a:t>
            </a:r>
            <a:endParaRPr lang="en-US" sz="18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5050" y="4076700"/>
            <a:ext cx="5314950" cy="25146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372225" y="4219873"/>
            <a:ext cx="18762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04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PERSISTENCE</a:t>
            </a:r>
            <a:endParaRPr lang="en-US" sz="15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2225" y="4562475"/>
            <a:ext cx="342900" cy="34290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372225" y="4953298"/>
            <a:ext cx="121845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状态持久化</a:t>
            </a:r>
            <a:endParaRPr lang="en-US" sz="1950" dirty="0"/>
          </a:p>
        </p:txBody>
      </p:sp>
      <p:sp>
        <p:nvSpPr>
          <p:cNvPr id="28" name="Text 14"/>
          <p:cNvSpPr/>
          <p:nvPr/>
        </p:nvSpPr>
        <p:spPr>
          <a:xfrm>
            <a:off x="6372225" y="5364659"/>
            <a:ext cx="4615458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atomic_write_json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 </a:t>
            </a: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_schema_version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写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入，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GET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只读性由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SQLite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快照测试证明。</a:t>
            </a:r>
            <a:endParaRPr lang="en-US" sz="18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334500" y="400050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" y="419100"/>
            <a:ext cx="398264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桌面与打包 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DESKTOP ENGINEERING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33400" y="714375"/>
            <a:ext cx="575503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桌面工程：</a:t>
            </a:r>
            <a:r>
              <a:rPr lang="en-US" sz="24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Electron + PyInstaller sidecar</a:t>
            </a:r>
            <a:endParaRPr lang="en-US" sz="2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3825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47800"/>
            <a:ext cx="5476875" cy="24574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1628775"/>
            <a:ext cx="323850" cy="3238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209675" y="1625203"/>
            <a:ext cx="131043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壳与 </a:t>
            </a:r>
            <a:r>
              <a:rPr 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sidecar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5531644" y="1655713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771525" y="1998613"/>
            <a:ext cx="328329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Electron 31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壳 · 受控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sidecar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生命周期</a:t>
            </a:r>
            <a:endParaRPr lang="en-US" sz="15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305050"/>
            <a:ext cx="5000625" cy="3238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71525" y="2303413"/>
            <a:ext cx="216038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Electron 31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单实例锁</a:t>
            </a:r>
            <a:endParaRPr lang="en-US" sz="18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609850"/>
            <a:ext cx="5000625" cy="3238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771525" y="2609999"/>
            <a:ext cx="25336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HMAC-SHA256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健康质询</a:t>
            </a:r>
            <a:endParaRPr lang="en-US" sz="18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2914650"/>
            <a:ext cx="5000625" cy="32385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771525" y="2916585"/>
            <a:ext cx="223733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父进程 </a:t>
            </a: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PID watchdog</a:t>
            </a:r>
            <a:endParaRPr lang="en-US" sz="18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3228975"/>
            <a:ext cx="5000625" cy="32385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771525" y="3223171"/>
            <a:ext cx="193878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taskkill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进程树管理</a:t>
            </a:r>
            <a:endParaRPr lang="en-US" sz="1800" dirty="0"/>
          </a:p>
        </p:txBody>
      </p:sp>
      <p:sp>
        <p:nvSpPr>
          <p:cNvPr id="20" name="Text 9"/>
          <p:cNvSpPr/>
          <p:nvPr/>
        </p:nvSpPr>
        <p:spPr>
          <a:xfrm>
            <a:off x="771525" y="3529757"/>
            <a:ext cx="18535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payload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版本指纹</a:t>
            </a:r>
            <a:endParaRPr lang="en-US" sz="18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1725" y="1447800"/>
            <a:ext cx="5476875" cy="2457450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850" y="1628775"/>
            <a:ext cx="323850" cy="32385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6858000" y="1625203"/>
            <a:ext cx="67493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构建链</a:t>
            </a:r>
            <a:endParaRPr lang="en-US" sz="1800" dirty="0"/>
          </a:p>
        </p:txBody>
      </p:sp>
      <p:sp>
        <p:nvSpPr>
          <p:cNvPr id="24" name="Text 11"/>
          <p:cNvSpPr/>
          <p:nvPr/>
        </p:nvSpPr>
        <p:spPr>
          <a:xfrm>
            <a:off x="11179969" y="1655713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12"/>
          <p:cNvSpPr/>
          <p:nvPr/>
        </p:nvSpPr>
        <p:spPr>
          <a:xfrm>
            <a:off x="6419850" y="1998613"/>
            <a:ext cx="317703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build_all_windows.ps1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四段流水线</a:t>
            </a:r>
            <a:endParaRPr lang="en-US" sz="15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2305050"/>
            <a:ext cx="5000625" cy="32385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762750" y="2303413"/>
            <a:ext cx="142875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前端 </a:t>
            </a: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Vite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构建</a:t>
            </a:r>
            <a:endParaRPr lang="en-US" sz="1800" dirty="0"/>
          </a:p>
        </p:txBody>
      </p:sp>
      <p:sp>
        <p:nvSpPr>
          <p:cNvPr id="28" name="Text 14"/>
          <p:cNvSpPr/>
          <p:nvPr/>
        </p:nvSpPr>
        <p:spPr>
          <a:xfrm>
            <a:off x="6419850" y="2328118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01</a:t>
            </a:r>
            <a:endParaRPr lang="en-US" sz="15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850" y="2609850"/>
            <a:ext cx="5000625" cy="323850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762750" y="2609999"/>
            <a:ext cx="24924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PyInstaller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后端 </a:t>
            </a: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sidecar</a:t>
            </a:r>
            <a:endParaRPr lang="en-US" sz="1800" dirty="0"/>
          </a:p>
        </p:txBody>
      </p:sp>
      <p:sp>
        <p:nvSpPr>
          <p:cNvPr id="31" name="Text 16"/>
          <p:cNvSpPr/>
          <p:nvPr/>
        </p:nvSpPr>
        <p:spPr>
          <a:xfrm>
            <a:off x="6419850" y="2634704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02</a:t>
            </a:r>
            <a:endParaRPr lang="en-US" sz="150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850" y="2914650"/>
            <a:ext cx="5000625" cy="323850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6762750" y="2916585"/>
            <a:ext cx="146908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兜底 </a:t>
            </a: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launcher</a:t>
            </a:r>
            <a:endParaRPr lang="en-US" sz="1800" dirty="0"/>
          </a:p>
        </p:txBody>
      </p:sp>
      <p:sp>
        <p:nvSpPr>
          <p:cNvPr id="34" name="Text 18"/>
          <p:cNvSpPr/>
          <p:nvPr/>
        </p:nvSpPr>
        <p:spPr>
          <a:xfrm>
            <a:off x="6419850" y="2941290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03</a:t>
            </a:r>
            <a:endParaRPr lang="en-US" sz="1500" dirty="0"/>
          </a:p>
        </p:txBody>
      </p:sp>
      <p:sp>
        <p:nvSpPr>
          <p:cNvPr id="35" name="Text 19"/>
          <p:cNvSpPr/>
          <p:nvPr/>
        </p:nvSpPr>
        <p:spPr>
          <a:xfrm>
            <a:off x="6762750" y="3223171"/>
            <a:ext cx="395094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electron-builder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</a:t>
            </a: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NSIS per-user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安装</a:t>
            </a:r>
            <a:endParaRPr lang="en-US" sz="1800" dirty="0"/>
          </a:p>
        </p:txBody>
      </p:sp>
      <p:sp>
        <p:nvSpPr>
          <p:cNvPr id="36" name="Text 20"/>
          <p:cNvSpPr/>
          <p:nvPr/>
        </p:nvSpPr>
        <p:spPr>
          <a:xfrm>
            <a:off x="6419850" y="3247876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04</a:t>
            </a:r>
            <a:endParaRPr lang="en-US" sz="15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" y="4067175"/>
            <a:ext cx="5476875" cy="2457450"/>
          </a:xfrm>
          <a:prstGeom prst="rect">
            <a:avLst/>
          </a:prstGeom>
        </p:spPr>
      </p:pic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4248150"/>
            <a:ext cx="323850" cy="323850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1209675" y="4245322"/>
            <a:ext cx="238437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packaged smoke </a:t>
            </a: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契约</a:t>
            </a:r>
            <a:endParaRPr lang="en-US" sz="1800" dirty="0"/>
          </a:p>
        </p:txBody>
      </p:sp>
      <p:sp>
        <p:nvSpPr>
          <p:cNvPr id="40" name="Text 22"/>
          <p:cNvSpPr/>
          <p:nvPr/>
        </p:nvSpPr>
        <p:spPr>
          <a:xfrm>
            <a:off x="5531644" y="4275832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03</a:t>
            </a:r>
            <a:endParaRPr lang="en-US" sz="1500" dirty="0"/>
          </a:p>
        </p:txBody>
      </p:sp>
      <p:sp>
        <p:nvSpPr>
          <p:cNvPr id="41" name="Text 23"/>
          <p:cNvSpPr/>
          <p:nvPr/>
        </p:nvSpPr>
        <p:spPr>
          <a:xfrm>
            <a:off x="771525" y="4618732"/>
            <a:ext cx="367635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隔离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workspace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userData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的一次性冒烟</a:t>
            </a:r>
            <a:endParaRPr lang="en-US" sz="1500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1525" y="4924425"/>
            <a:ext cx="5000625" cy="323850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771525" y="4923532"/>
            <a:ext cx="203046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打包后 </a:t>
            </a: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sidecar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健康</a:t>
            </a:r>
            <a:endParaRPr lang="en-US" sz="1800" dirty="0"/>
          </a:p>
        </p:txBody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1525" y="5229225"/>
            <a:ext cx="5000625" cy="323850"/>
          </a:xfrm>
          <a:prstGeom prst="rect">
            <a:avLst/>
          </a:prstGeom>
        </p:spPr>
      </p:pic>
      <p:sp>
        <p:nvSpPr>
          <p:cNvPr id="45" name="Text 25"/>
          <p:cNvSpPr/>
          <p:nvPr/>
        </p:nvSpPr>
        <p:spPr>
          <a:xfrm>
            <a:off x="771525" y="5230118"/>
            <a:ext cx="155704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React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挂载渲染</a:t>
            </a:r>
            <a:endParaRPr lang="en-US" sz="1800" dirty="0"/>
          </a:p>
        </p:txBody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1525" y="5534025"/>
            <a:ext cx="5000625" cy="323850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771525" y="5536704"/>
            <a:ext cx="163681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无 </a:t>
            </a: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console </a:t>
            </a:r>
            <a:r>
              <a:rPr lang="zh-CN" alt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错误</a:t>
            </a:r>
            <a:endParaRPr lang="en-US" sz="1800" dirty="0"/>
          </a:p>
        </p:txBody>
      </p:sp>
      <p:sp>
        <p:nvSpPr>
          <p:cNvPr id="48" name="Text 27"/>
          <p:cNvSpPr/>
          <p:nvPr/>
        </p:nvSpPr>
        <p:spPr>
          <a:xfrm>
            <a:off x="771525" y="5843290"/>
            <a:ext cx="291926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C3C">
                    <a:alpha val="85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sandbox + contextIsolation</a:t>
            </a:r>
            <a:endParaRPr lang="en-US" sz="1800" dirty="0"/>
          </a:p>
        </p:txBody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81725" y="4067175"/>
            <a:ext cx="5476875" cy="2457450"/>
          </a:xfrm>
          <a:prstGeom prst="rect">
            <a:avLst/>
          </a:prstGeom>
        </p:spPr>
      </p:pic>
      <p:pic>
        <p:nvPicPr>
          <p:cNvPr id="5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9850" y="4248150"/>
            <a:ext cx="323850" cy="323850"/>
          </a:xfrm>
          <a:prstGeom prst="rect">
            <a:avLst/>
          </a:prstGeom>
        </p:spPr>
      </p:pic>
      <p:sp>
        <p:nvSpPr>
          <p:cNvPr id="51" name="Text 28"/>
          <p:cNvSpPr/>
          <p:nvPr/>
        </p:nvSpPr>
        <p:spPr>
          <a:xfrm>
            <a:off x="6858000" y="4245322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证据分级</a:t>
            </a:r>
            <a:endParaRPr lang="en-US" sz="1800" dirty="0"/>
          </a:p>
        </p:txBody>
      </p:sp>
      <p:sp>
        <p:nvSpPr>
          <p:cNvPr id="52" name="Text 29"/>
          <p:cNvSpPr/>
          <p:nvPr/>
        </p:nvSpPr>
        <p:spPr>
          <a:xfrm>
            <a:off x="11179969" y="4275832"/>
            <a:ext cx="24050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04</a:t>
            </a:r>
            <a:endParaRPr lang="en-US" sz="1500" dirty="0"/>
          </a:p>
        </p:txBody>
      </p:sp>
      <p:sp>
        <p:nvSpPr>
          <p:cNvPr id="53" name="Text 30"/>
          <p:cNvSpPr/>
          <p:nvPr/>
        </p:nvSpPr>
        <p:spPr>
          <a:xfrm>
            <a:off x="6419850" y="4618732"/>
            <a:ext cx="410051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build success ≠ packaged smoke ≠ GUI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验证</a:t>
            </a:r>
            <a:endParaRPr lang="en-US" sz="1500" dirty="0"/>
          </a:p>
        </p:txBody>
      </p:sp>
      <p:pic>
        <p:nvPicPr>
          <p:cNvPr id="5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19850" y="4914900"/>
            <a:ext cx="5000625" cy="390525"/>
          </a:xfrm>
          <a:prstGeom prst="rect">
            <a:avLst/>
          </a:prstGeom>
        </p:spPr>
      </p:pic>
      <p:sp>
        <p:nvSpPr>
          <p:cNvPr id="55" name="Text 31"/>
          <p:cNvSpPr/>
          <p:nvPr/>
        </p:nvSpPr>
        <p:spPr>
          <a:xfrm>
            <a:off x="6419850" y="4942582"/>
            <a:ext cx="255537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build success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构建成功</a:t>
            </a:r>
            <a:endParaRPr lang="en-US" sz="1800" dirty="0"/>
          </a:p>
        </p:txBody>
      </p:sp>
      <p:sp>
        <p:nvSpPr>
          <p:cNvPr id="56" name="Text 32"/>
          <p:cNvSpPr/>
          <p:nvPr/>
        </p:nvSpPr>
        <p:spPr>
          <a:xfrm>
            <a:off x="10858054" y="4971157"/>
            <a:ext cx="5624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已验证</a:t>
            </a:r>
            <a:endParaRPr lang="en-US" sz="1500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87050" y="5057775"/>
            <a:ext cx="95250" cy="95250"/>
          </a:xfrm>
          <a:prstGeom prst="rect">
            <a:avLst/>
          </a:prstGeom>
        </p:spPr>
      </p:pic>
      <p:pic>
        <p:nvPicPr>
          <p:cNvPr id="5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19850" y="5305425"/>
            <a:ext cx="5000625" cy="390525"/>
          </a:xfrm>
          <a:prstGeom prst="rect">
            <a:avLst/>
          </a:prstGeom>
        </p:spPr>
      </p:pic>
      <p:sp>
        <p:nvSpPr>
          <p:cNvPr id="59" name="Text 33"/>
          <p:cNvSpPr/>
          <p:nvPr/>
        </p:nvSpPr>
        <p:spPr>
          <a:xfrm>
            <a:off x="6419850" y="5333107"/>
            <a:ext cx="29572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packaged smoke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打包冒烟</a:t>
            </a:r>
            <a:endParaRPr lang="en-US" sz="1800" dirty="0"/>
          </a:p>
        </p:txBody>
      </p:sp>
      <p:sp>
        <p:nvSpPr>
          <p:cNvPr id="60" name="Text 34"/>
          <p:cNvSpPr/>
          <p:nvPr/>
        </p:nvSpPr>
        <p:spPr>
          <a:xfrm>
            <a:off x="10858054" y="5361682"/>
            <a:ext cx="5624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已验证</a:t>
            </a:r>
            <a:endParaRPr lang="en-US" sz="1500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87050" y="5448300"/>
            <a:ext cx="95250" cy="9525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6419850" y="5723632"/>
            <a:ext cx="227766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GUI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验证 · 可见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UI E2E</a:t>
            </a:r>
            <a:endParaRPr lang="en-US" sz="1800" dirty="0"/>
          </a:p>
        </p:txBody>
      </p:sp>
      <p:sp>
        <p:nvSpPr>
          <p:cNvPr id="63" name="Text 36"/>
          <p:cNvSpPr/>
          <p:nvPr/>
        </p:nvSpPr>
        <p:spPr>
          <a:xfrm>
            <a:off x="10654754" y="5752207"/>
            <a:ext cx="7657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pending</a:t>
            </a:r>
            <a:endParaRPr lang="en-US" sz="1500" dirty="0"/>
          </a:p>
        </p:txBody>
      </p:sp>
      <p:pic>
        <p:nvPicPr>
          <p:cNvPr id="6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87025" y="5838825"/>
            <a:ext cx="95250" cy="95250"/>
          </a:xfrm>
          <a:prstGeom prst="rect">
            <a:avLst/>
          </a:prstGeom>
        </p:spPr>
      </p:pic>
      <p:pic>
        <p:nvPicPr>
          <p:cNvPr id="65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220200" y="3848100"/>
            <a:ext cx="2819400" cy="2819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66700"/>
            <a:ext cx="41357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SAFETY BOUNDARIES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DEFAULT OFF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457200" y="581025"/>
            <a:ext cx="350549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5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安全边界与默认关闭设计</a:t>
            </a:r>
            <a:endParaRPr lang="en-US" sz="2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395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33500"/>
            <a:ext cx="3895725" cy="25527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944392" y="1477119"/>
            <a:ext cx="2381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01</a:t>
            </a:r>
            <a:endParaRPr lang="en-US" sz="15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495425"/>
            <a:ext cx="342900" cy="3429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57225" y="1896219"/>
            <a:ext cx="187255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rawdata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永久只读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657225" y="2266504"/>
            <a:ext cx="3601492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违规写入触发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RAWDATA_SAFETY_VIOLATION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硬阻断、无例外。</a:t>
            </a:r>
            <a:endParaRPr lang="en-US" sz="18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1333500"/>
            <a:ext cx="3543300" cy="25527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639496" y="1477119"/>
            <a:ext cx="2381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02</a:t>
            </a:r>
            <a:endParaRPr lang="en-US" sz="15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1495425"/>
            <a:ext cx="342900" cy="3429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696867" y="1896219"/>
            <a:ext cx="11248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写根白名单</a:t>
            </a:r>
            <a:endParaRPr lang="en-US" sz="1800" dirty="0"/>
          </a:p>
        </p:txBody>
      </p:sp>
      <p:sp>
        <p:nvSpPr>
          <p:cNvPr id="16" name="Text 7"/>
          <p:cNvSpPr/>
          <p:nvPr/>
        </p:nvSpPr>
        <p:spPr>
          <a:xfrm>
            <a:off x="4696867" y="2266504"/>
            <a:ext cx="3239393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仅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work / logs / derivatives /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reports / exports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，审批范围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完整保留。</a:t>
            </a:r>
            <a:endParaRPr lang="en-US" sz="1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0" y="1333500"/>
            <a:ext cx="3543300" cy="25527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1334750" y="1477119"/>
            <a:ext cx="2381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03</a:t>
            </a:r>
            <a:endParaRPr lang="en-US" sz="15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1525" y="1495425"/>
            <a:ext cx="342900" cy="3429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391971" y="1896219"/>
            <a:ext cx="180260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safe-path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归一化</a:t>
            </a:r>
            <a:endParaRPr lang="en-US" sz="1800" dirty="0"/>
          </a:p>
        </p:txBody>
      </p:sp>
      <p:sp>
        <p:nvSpPr>
          <p:cNvPr id="21" name="Text 10"/>
          <p:cNvSpPr/>
          <p:nvPr/>
        </p:nvSpPr>
        <p:spPr>
          <a:xfrm>
            <a:off x="8391971" y="2266504"/>
            <a:ext cx="3032671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路径先 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resolve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再校验，拒绝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目录遍历与符号链接逃逸。</a:t>
            </a:r>
            <a:endParaRPr lang="en-US" sz="18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038600"/>
            <a:ext cx="3895725" cy="25527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944392" y="4181773"/>
            <a:ext cx="2381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04</a:t>
            </a:r>
            <a:endParaRPr lang="en-US" sz="15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" y="4200525"/>
            <a:ext cx="342900" cy="3429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57225" y="4600873"/>
            <a:ext cx="11248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不可变审计</a:t>
            </a:r>
            <a:endParaRPr lang="en-US" sz="1800" dirty="0"/>
          </a:p>
        </p:txBody>
      </p:sp>
      <p:sp>
        <p:nvSpPr>
          <p:cNvPr id="26" name="Text 13"/>
          <p:cNvSpPr/>
          <p:nvPr/>
        </p:nvSpPr>
        <p:spPr>
          <a:xfrm>
            <a:off x="657225" y="4971157"/>
            <a:ext cx="3466802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审计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JSON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先于执行器调用写入，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append-only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不可篡改。</a:t>
            </a:r>
            <a:endParaRPr lang="en-US" sz="18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4038600"/>
            <a:ext cx="3543300" cy="255270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639496" y="4181773"/>
            <a:ext cx="2381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05</a:t>
            </a:r>
            <a:endParaRPr lang="en-US" sz="15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95825" y="4200525"/>
            <a:ext cx="342900" cy="342900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4696867" y="4600873"/>
            <a:ext cx="195619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safe allowlist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指纹</a:t>
            </a:r>
            <a:endParaRPr lang="en-US" sz="1800" dirty="0"/>
          </a:p>
        </p:txBody>
      </p:sp>
      <p:sp>
        <p:nvSpPr>
          <p:cNvPr id="31" name="Text 16"/>
          <p:cNvSpPr/>
          <p:nvPr/>
        </p:nvSpPr>
        <p:spPr>
          <a:xfrm>
            <a:off x="4696867" y="4971157"/>
            <a:ext cx="3101876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指纹参与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Execution Ticket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绑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定，防止目录漂移。</a:t>
            </a:r>
            <a:endParaRPr lang="en-US" sz="180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91500" y="4038600"/>
            <a:ext cx="3543300" cy="2552700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11334750" y="4181773"/>
            <a:ext cx="2381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06</a:t>
            </a:r>
            <a:endParaRPr lang="en-US" sz="1500" dirty="0"/>
          </a:p>
        </p:txBody>
      </p:sp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1525" y="4200525"/>
            <a:ext cx="342900" cy="342900"/>
          </a:xfrm>
          <a:prstGeom prst="rect">
            <a:avLst/>
          </a:prstGeom>
        </p:spPr>
      </p:pic>
      <p:sp>
        <p:nvSpPr>
          <p:cNvPr id="35" name="Text 18"/>
          <p:cNvSpPr/>
          <p:nvPr/>
        </p:nvSpPr>
        <p:spPr>
          <a:xfrm>
            <a:off x="8391971" y="4600873"/>
            <a:ext cx="179963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默认全关的五道门</a:t>
            </a:r>
            <a:endParaRPr lang="en-US" sz="1800" dirty="0"/>
          </a:p>
        </p:txBody>
      </p:sp>
      <p:sp>
        <p:nvSpPr>
          <p:cNvPr id="36" name="Text 19"/>
          <p:cNvSpPr/>
          <p:nvPr/>
        </p:nvSpPr>
        <p:spPr>
          <a:xfrm>
            <a:off x="8391971" y="4971157"/>
            <a:ext cx="3074938" cy="1376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LLM advisory-only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GUI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Agent mock-only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Memory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五门默认全关；记忆不是执行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许可，也不是科学真值来源。</a:t>
            </a:r>
            <a:endParaRPr lang="en-US" sz="1800" dirty="0"/>
          </a:p>
        </p:txBody>
      </p:sp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763000" y="3429000"/>
            <a:ext cx="3276600" cy="32766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33400" y="419100"/>
            <a:ext cx="386268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验证证据 ·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VERIFICATION BASELINE</a:t>
            </a:r>
            <a:endParaRPr lang="en-US" sz="1500" dirty="0"/>
          </a:p>
        </p:txBody>
      </p:sp>
      <p:sp>
        <p:nvSpPr>
          <p:cNvPr id="6" name="Text 1"/>
          <p:cNvSpPr/>
          <p:nvPr/>
        </p:nvSpPr>
        <p:spPr>
          <a:xfrm>
            <a:off x="533400" y="723900"/>
            <a:ext cx="3205460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8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测试体系与验证证据</a:t>
            </a:r>
            <a:endParaRPr lang="en-US" sz="285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343025"/>
            <a:ext cx="685800" cy="190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33400" y="1734294"/>
            <a:ext cx="3233886" cy="19716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4108</a:t>
            </a:r>
            <a:endParaRPr lang="en-US" sz="11100" dirty="0"/>
          </a:p>
        </p:txBody>
      </p:sp>
      <p:sp>
        <p:nvSpPr>
          <p:cNvPr id="9" name="Text 3"/>
          <p:cNvSpPr/>
          <p:nvPr/>
        </p:nvSpPr>
        <p:spPr>
          <a:xfrm>
            <a:off x="533400" y="3530650"/>
            <a:ext cx="1462236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9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后端测试通过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533400" y="3968800"/>
            <a:ext cx="39056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16 skipped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·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CI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三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job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全绿（精确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SHA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锁定）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505325"/>
            <a:ext cx="4953000" cy="8953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33400" y="4654600"/>
            <a:ext cx="57030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354</a:t>
            </a:r>
            <a:endParaRPr lang="en-US" sz="2550" dirty="0"/>
          </a:p>
        </p:txBody>
      </p:sp>
      <p:sp>
        <p:nvSpPr>
          <p:cNvPr id="13" name="Text 6"/>
          <p:cNvSpPr/>
          <p:nvPr/>
        </p:nvSpPr>
        <p:spPr>
          <a:xfrm>
            <a:off x="533400" y="5119390"/>
            <a:ext cx="11248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后端测试文件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2077343" y="4654600"/>
            <a:ext cx="3802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58</a:t>
            </a:r>
            <a:endParaRPr lang="en-US" sz="2550" dirty="0"/>
          </a:p>
        </p:txBody>
      </p:sp>
      <p:sp>
        <p:nvSpPr>
          <p:cNvPr id="15" name="Text 8"/>
          <p:cNvSpPr/>
          <p:nvPr/>
        </p:nvSpPr>
        <p:spPr>
          <a:xfrm>
            <a:off x="2077343" y="5119390"/>
            <a:ext cx="11248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前端测试文件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3621286" y="4654600"/>
            <a:ext cx="57030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238</a:t>
            </a:r>
            <a:endParaRPr lang="en-US" sz="2550" dirty="0"/>
          </a:p>
        </p:txBody>
      </p:sp>
      <p:sp>
        <p:nvSpPr>
          <p:cNvPr id="17" name="Text 10"/>
          <p:cNvSpPr/>
          <p:nvPr/>
        </p:nvSpPr>
        <p:spPr>
          <a:xfrm>
            <a:off x="3621286" y="5119390"/>
            <a:ext cx="11248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前端用例通过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019800" y="1531293"/>
            <a:ext cx="12391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支撑验证要点</a:t>
            </a:r>
            <a:endParaRPr lang="en-US" sz="1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1857375"/>
            <a:ext cx="5638800" cy="8191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19800" y="1969443"/>
            <a:ext cx="2411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01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6515100" y="1959918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科学双层锁定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6515100" y="2283768"/>
            <a:ext cx="353853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golden 1e-5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与独立参考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1e-4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双容差校验</a:t>
            </a:r>
            <a:endParaRPr lang="en-US" sz="15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2676525"/>
            <a:ext cx="5638800" cy="80962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019800" y="2779068"/>
            <a:ext cx="2411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02</a:t>
            </a:r>
            <a:endParaRPr lang="en-US" sz="1650" dirty="0"/>
          </a:p>
        </p:txBody>
      </p:sp>
      <p:sp>
        <p:nvSpPr>
          <p:cNvPr id="25" name="Text 16"/>
          <p:cNvSpPr/>
          <p:nvPr/>
        </p:nvSpPr>
        <p:spPr>
          <a:xfrm>
            <a:off x="6515100" y="2769543"/>
            <a:ext cx="184576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审批顺序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spy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断言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6515100" y="3093393"/>
            <a:ext cx="304249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调用清单锁定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dry_run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先于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execute</a:t>
            </a:r>
            <a:endParaRPr lang="en-US" sz="15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9800" y="3486150"/>
            <a:ext cx="5638800" cy="80962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019800" y="3588693"/>
            <a:ext cx="2411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03</a:t>
            </a:r>
            <a:endParaRPr lang="en-US" sz="1650" dirty="0"/>
          </a:p>
        </p:txBody>
      </p:sp>
      <p:sp>
        <p:nvSpPr>
          <p:cNvPr id="29" name="Text 19"/>
          <p:cNvSpPr/>
          <p:nvPr/>
        </p:nvSpPr>
        <p:spPr>
          <a:xfrm>
            <a:off x="6515100" y="3579168"/>
            <a:ext cx="22526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plan-only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零执行陷阱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6515100" y="3903018"/>
            <a:ext cx="31700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断言无审批、无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dry-run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、无数值产物</a:t>
            </a:r>
            <a:endParaRPr lang="en-US" sz="15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9800" y="4295775"/>
            <a:ext cx="5638800" cy="80962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019800" y="4398318"/>
            <a:ext cx="2411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04</a:t>
            </a:r>
            <a:endParaRPr lang="en-US" sz="1650" dirty="0"/>
          </a:p>
        </p:txBody>
      </p:sp>
      <p:sp>
        <p:nvSpPr>
          <p:cNvPr id="33" name="Text 22"/>
          <p:cNvSpPr/>
          <p:nvPr/>
        </p:nvSpPr>
        <p:spPr>
          <a:xfrm>
            <a:off x="6515100" y="4388793"/>
            <a:ext cx="181585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GET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端点只读快照</a:t>
            </a:r>
            <a:endParaRPr lang="en-US" sz="1800" dirty="0"/>
          </a:p>
        </p:txBody>
      </p:sp>
      <p:sp>
        <p:nvSpPr>
          <p:cNvPr id="34" name="Text 23"/>
          <p:cNvSpPr/>
          <p:nvPr/>
        </p:nvSpPr>
        <p:spPr>
          <a:xfrm>
            <a:off x="6515100" y="4712643"/>
            <a:ext cx="28118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读投影不触发任何状态迁移副作用</a:t>
            </a:r>
            <a:endParaRPr lang="en-US" sz="15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9800" y="5105400"/>
            <a:ext cx="5638800" cy="809625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019800" y="5207943"/>
            <a:ext cx="2411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05</a:t>
            </a:r>
            <a:endParaRPr lang="en-US" sz="1650" dirty="0"/>
          </a:p>
        </p:txBody>
      </p:sp>
      <p:sp>
        <p:nvSpPr>
          <p:cNvPr id="37" name="Text 25"/>
          <p:cNvSpPr/>
          <p:nvPr/>
        </p:nvSpPr>
        <p:spPr>
          <a:xfrm>
            <a:off x="6515100" y="5198418"/>
            <a:ext cx="250596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conftest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临时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store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隔离</a:t>
            </a:r>
            <a:endParaRPr lang="en-US" sz="1800" dirty="0"/>
          </a:p>
        </p:txBody>
      </p:sp>
      <p:sp>
        <p:nvSpPr>
          <p:cNvPr id="38" name="Text 26"/>
          <p:cNvSpPr/>
          <p:nvPr/>
        </p:nvSpPr>
        <p:spPr>
          <a:xfrm>
            <a:off x="6515100" y="5522268"/>
            <a:ext cx="312524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全局临时 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store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，不写持久桌面数据库</a:t>
            </a:r>
            <a:endParaRPr lang="en-US" sz="15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086475"/>
            <a:ext cx="11125200" cy="428625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33400" y="6238875"/>
            <a:ext cx="59817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数字口径：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PROJECT_STATE.md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验证基线（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2026-07-26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），非现场重跑</a:t>
            </a:r>
            <a:endParaRPr lang="en-US" sz="15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9372600" y="4038600"/>
            <a:ext cx="2667000" cy="2667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419100"/>
            <a:ext cx="163472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尾声 · 边界声明</a:t>
            </a:r>
            <a:endParaRPr lang="en-US" sz="1500" dirty="0"/>
          </a:p>
        </p:txBody>
      </p:sp>
      <p:sp>
        <p:nvSpPr>
          <p:cNvPr id="6" name="Text 1"/>
          <p:cNvSpPr/>
          <p:nvPr/>
        </p:nvSpPr>
        <p:spPr>
          <a:xfrm>
            <a:off x="609600" y="723900"/>
            <a:ext cx="4723805" cy="561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31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诚实边界：已验证与未验证</a:t>
            </a:r>
            <a:endParaRPr lang="en-US" sz="315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81125"/>
            <a:ext cx="685800" cy="1905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647825"/>
            <a:ext cx="5105400" cy="428625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609600" y="1619548"/>
            <a:ext cx="73119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9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已验证</a:t>
            </a:r>
            <a:endParaRPr lang="en-US" sz="1950" dirty="0"/>
          </a:p>
        </p:txBody>
      </p:sp>
      <p:sp>
        <p:nvSpPr>
          <p:cNvPr id="10" name="Text 3"/>
          <p:cNvSpPr/>
          <p:nvPr/>
        </p:nvSpPr>
        <p:spPr>
          <a:xfrm>
            <a:off x="4725293" y="1686223"/>
            <a:ext cx="9849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附证据等级</a:t>
            </a:r>
            <a:endParaRPr lang="en-US" sz="15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200275"/>
            <a:ext cx="5105400" cy="50482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76300" y="2288977"/>
            <a:ext cx="11248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审批链顺序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4595961" y="2317552"/>
            <a:ext cx="11142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spy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测试锁定</a:t>
            </a:r>
            <a:endParaRPr lang="en-US" sz="15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38450"/>
            <a:ext cx="5105400" cy="50482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876300" y="2920305"/>
            <a:ext cx="206037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ALFF / fALFF kernel</a:t>
            </a:r>
            <a:endParaRPr lang="en-US" sz="1800" dirty="0"/>
          </a:p>
        </p:txBody>
      </p:sp>
      <p:sp>
        <p:nvSpPr>
          <p:cNvPr id="16" name="Text 7"/>
          <p:cNvSpPr/>
          <p:nvPr/>
        </p:nvSpPr>
        <p:spPr>
          <a:xfrm>
            <a:off x="4077444" y="2948880"/>
            <a:ext cx="163279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golden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或参考验证</a:t>
            </a:r>
            <a:endParaRPr lang="en-US" sz="15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467100"/>
            <a:ext cx="5105400" cy="50482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76300" y="3551634"/>
            <a:ext cx="232469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ReHo-CPU / FC kernel</a:t>
            </a:r>
            <a:endParaRPr lang="en-US" sz="1800" dirty="0"/>
          </a:p>
        </p:txBody>
      </p:sp>
      <p:sp>
        <p:nvSpPr>
          <p:cNvPr id="19" name="Text 9"/>
          <p:cNvSpPr/>
          <p:nvPr/>
        </p:nvSpPr>
        <p:spPr>
          <a:xfrm>
            <a:off x="4077444" y="3580209"/>
            <a:ext cx="163279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golden </a:t>
            </a: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或参考验证</a:t>
            </a:r>
            <a:endParaRPr lang="en-US" sz="15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095750"/>
            <a:ext cx="5105400" cy="50482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876300" y="4182963"/>
            <a:ext cx="179412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三被试源码级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E2E</a:t>
            </a:r>
            <a:endParaRPr lang="en-US" sz="1800" dirty="0"/>
          </a:p>
        </p:txBody>
      </p:sp>
      <p:sp>
        <p:nvSpPr>
          <p:cNvPr id="22" name="Text 11"/>
          <p:cNvSpPr/>
          <p:nvPr/>
        </p:nvSpPr>
        <p:spPr>
          <a:xfrm>
            <a:off x="4772918" y="4211538"/>
            <a:ext cx="937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端到端贯通</a:t>
            </a:r>
            <a:endParaRPr lang="en-US" sz="15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724400"/>
            <a:ext cx="5105400" cy="50482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876300" y="4814292"/>
            <a:ext cx="261386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打包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sidecar / API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工作流</a:t>
            </a:r>
            <a:endParaRPr lang="en-US" sz="1800" dirty="0"/>
          </a:p>
        </p:txBody>
      </p:sp>
      <p:sp>
        <p:nvSpPr>
          <p:cNvPr id="25" name="Text 13"/>
          <p:cNvSpPr/>
          <p:nvPr/>
        </p:nvSpPr>
        <p:spPr>
          <a:xfrm>
            <a:off x="4772918" y="4842867"/>
            <a:ext cx="937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工作流验证</a:t>
            </a:r>
            <a:endParaRPr lang="en-US" sz="15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362575"/>
            <a:ext cx="5105400" cy="49530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876300" y="5445621"/>
            <a:ext cx="184115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packaged smoke</a:t>
            </a:r>
            <a:endParaRPr lang="en-US" sz="1800" dirty="0"/>
          </a:p>
        </p:txBody>
      </p:sp>
      <p:sp>
        <p:nvSpPr>
          <p:cNvPr id="28" name="Text 15"/>
          <p:cNvSpPr/>
          <p:nvPr/>
        </p:nvSpPr>
        <p:spPr>
          <a:xfrm>
            <a:off x="4772918" y="5474196"/>
            <a:ext cx="937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隔离工作区</a:t>
            </a:r>
            <a:endParaRPr lang="en-US" sz="15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647825"/>
            <a:ext cx="9525" cy="4333875"/>
          </a:xfrm>
          <a:prstGeom prst="rect">
            <a:avLst/>
          </a:prstGeom>
        </p:spPr>
      </p:pic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525" y="1647825"/>
            <a:ext cx="5105400" cy="428625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481763" y="1619548"/>
            <a:ext cx="170586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9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未验证与非目标</a:t>
            </a:r>
            <a:endParaRPr lang="en-US" sz="1950" dirty="0"/>
          </a:p>
        </p:txBody>
      </p:sp>
      <p:sp>
        <p:nvSpPr>
          <p:cNvPr id="32" name="Text 17"/>
          <p:cNvSpPr/>
          <p:nvPr/>
        </p:nvSpPr>
        <p:spPr>
          <a:xfrm>
            <a:off x="10794355" y="1686223"/>
            <a:ext cx="7880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如实标注</a:t>
            </a:r>
            <a:endParaRPr lang="en-US" sz="1500" dirty="0"/>
          </a:p>
        </p:txBody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2162175"/>
            <a:ext cx="5105400" cy="504825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748463" y="2247602"/>
            <a:ext cx="133260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可见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GUI E2E</a:t>
            </a:r>
            <a:endParaRPr lang="en-US" sz="1800" dirty="0"/>
          </a:p>
        </p:txBody>
      </p:sp>
      <p:sp>
        <p:nvSpPr>
          <p:cNvPr id="35" name="Text 19"/>
          <p:cNvSpPr/>
          <p:nvPr/>
        </p:nvSpPr>
        <p:spPr>
          <a:xfrm>
            <a:off x="11019979" y="2276177"/>
            <a:ext cx="5624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未证明</a:t>
            </a:r>
            <a:endParaRPr lang="en-US" sz="1500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2752725"/>
            <a:ext cx="5105400" cy="790575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6748463" y="2837557"/>
            <a:ext cx="3682157" cy="611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组统计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分类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诊断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报告编辑器 </a:t>
            </a: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/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自动更新</a:t>
            </a:r>
            <a:endParaRPr lang="en-US" sz="1800" dirty="0"/>
          </a:p>
        </p:txBody>
      </p:sp>
      <p:sp>
        <p:nvSpPr>
          <p:cNvPr id="38" name="Text 21"/>
          <p:cNvSpPr/>
          <p:nvPr/>
        </p:nvSpPr>
        <p:spPr>
          <a:xfrm>
            <a:off x="10645080" y="2866132"/>
            <a:ext cx="937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不在当前线</a:t>
            </a:r>
            <a:endParaRPr lang="en-US" sz="150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3629025"/>
            <a:ext cx="5105400" cy="504825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6748463" y="3716834"/>
            <a:ext cx="228540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SPM / DPABI </a:t>
            </a: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数值等价</a:t>
            </a:r>
            <a:endParaRPr lang="en-US" sz="1800" dirty="0"/>
          </a:p>
        </p:txBody>
      </p:sp>
      <p:sp>
        <p:nvSpPr>
          <p:cNvPr id="41" name="Text 23"/>
          <p:cNvSpPr/>
          <p:nvPr/>
        </p:nvSpPr>
        <p:spPr>
          <a:xfrm>
            <a:off x="11019979" y="3745409"/>
            <a:ext cx="5624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未验证</a:t>
            </a:r>
            <a:endParaRPr lang="en-US" sz="1500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4219575"/>
            <a:ext cx="5105400" cy="504825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748463" y="4306788"/>
            <a:ext cx="108317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ReHo GPU</a:t>
            </a:r>
            <a:endParaRPr lang="en-US" sz="1800" dirty="0"/>
          </a:p>
        </p:txBody>
      </p:sp>
      <p:sp>
        <p:nvSpPr>
          <p:cNvPr id="44" name="Text 25"/>
          <p:cNvSpPr/>
          <p:nvPr/>
        </p:nvSpPr>
        <p:spPr>
          <a:xfrm>
            <a:off x="11019979" y="4335363"/>
            <a:ext cx="5624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未验证</a:t>
            </a:r>
            <a:endParaRPr lang="en-US" sz="1500" dirty="0"/>
          </a:p>
        </p:txBody>
      </p:sp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6525" y="4810125"/>
            <a:ext cx="5105400" cy="504825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6748463" y="4896743"/>
            <a:ext cx="219982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Phase 10 Agent-first</a:t>
            </a:r>
            <a:endParaRPr lang="en-US" sz="1800" dirty="0"/>
          </a:p>
        </p:txBody>
      </p:sp>
      <p:sp>
        <p:nvSpPr>
          <p:cNvPr id="47" name="Text 27"/>
          <p:cNvSpPr/>
          <p:nvPr/>
        </p:nvSpPr>
        <p:spPr>
          <a:xfrm>
            <a:off x="10645080" y="4925318"/>
            <a:ext cx="937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未正式发布</a:t>
            </a:r>
            <a:endParaRPr lang="en-US" sz="1500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6525" y="5400675"/>
            <a:ext cx="5105400" cy="495300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6748463" y="5486698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不作临床诊断</a:t>
            </a:r>
            <a:endParaRPr lang="en-US" sz="1800" dirty="0"/>
          </a:p>
        </p:txBody>
      </p:sp>
      <p:sp>
        <p:nvSpPr>
          <p:cNvPr id="50" name="Text 29"/>
          <p:cNvSpPr/>
          <p:nvPr/>
        </p:nvSpPr>
        <p:spPr>
          <a:xfrm>
            <a:off x="10832455" y="5515273"/>
            <a:ext cx="7499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产品边界</a:t>
            </a:r>
            <a:endParaRPr lang="en-US" sz="1500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43275" y="6362700"/>
            <a:ext cx="533400" cy="9525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4082504" y="6162675"/>
            <a:ext cx="402684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2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「工程可信度来自诚实边界」</a:t>
            </a:r>
            <a:endParaRPr lang="en-US" sz="225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15325" y="6362700"/>
            <a:ext cx="533400" cy="9525"/>
          </a:xfrm>
          <a:prstGeom prst="rect">
            <a:avLst/>
          </a:prstGeom>
        </p:spPr>
      </p:pic>
      <p:pic>
        <p:nvPicPr>
          <p:cNvPr id="5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448800" y="41148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" y="304800"/>
            <a:ext cx="19870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附录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/ APPENDIX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33400" y="600075"/>
            <a:ext cx="314979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附录 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A 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· 能力矩阵明细</a:t>
            </a:r>
            <a:endParaRPr lang="en-US" sz="2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2395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19225"/>
            <a:ext cx="11125200" cy="35242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33400" y="1421011"/>
            <a:ext cx="41314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阶段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3810000" y="1421011"/>
            <a:ext cx="8261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能力等级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7848600" y="1421011"/>
            <a:ext cx="8261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验证状态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771650"/>
            <a:ext cx="11125200" cy="4572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33400" y="1840111"/>
            <a:ext cx="200724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DICOM Conversion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3810000" y="1840111"/>
            <a:ext cx="219789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Reference Validated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7848600" y="1864816"/>
            <a:ext cx="7499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默认阻断</a:t>
            </a:r>
            <a:endParaRPr lang="en-US" sz="15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228850"/>
            <a:ext cx="11125200" cy="457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3400" y="2299097"/>
            <a:ext cx="13105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Slice Timing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3810000" y="2299097"/>
            <a:ext cx="284544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Numerically Implemented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7848600" y="2323802"/>
            <a:ext cx="17027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合成数据 </a:t>
            </a:r>
            <a:r>
              <a:rPr 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+ </a:t>
            </a: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单元测试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686050"/>
            <a:ext cx="11125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3400" y="2758083"/>
            <a:ext cx="119925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Smoothing</a:t>
            </a:r>
            <a:endParaRPr lang="en-US" sz="1800" dirty="0"/>
          </a:p>
        </p:txBody>
      </p:sp>
      <p:sp>
        <p:nvSpPr>
          <p:cNvPr id="21" name="Text 12"/>
          <p:cNvSpPr/>
          <p:nvPr/>
        </p:nvSpPr>
        <p:spPr>
          <a:xfrm>
            <a:off x="3810000" y="2758083"/>
            <a:ext cx="284544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Numerically Implemented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7848600" y="2782788"/>
            <a:ext cx="17027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合成数据 </a:t>
            </a:r>
            <a:r>
              <a:rPr 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+ </a:t>
            </a: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单元测试</a:t>
            </a:r>
            <a:endParaRPr lang="en-US" sz="15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152775"/>
            <a:ext cx="11125200" cy="4572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3400" y="3217069"/>
            <a:ext cx="90279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Filtering</a:t>
            </a:r>
            <a:endParaRPr lang="en-US" sz="1800" dirty="0"/>
          </a:p>
        </p:txBody>
      </p:sp>
      <p:sp>
        <p:nvSpPr>
          <p:cNvPr id="25" name="Text 15"/>
          <p:cNvSpPr/>
          <p:nvPr/>
        </p:nvSpPr>
        <p:spPr>
          <a:xfrm>
            <a:off x="3810000" y="3217069"/>
            <a:ext cx="284544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Numerically Implemented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7848600" y="3241774"/>
            <a:ext cx="17027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合成数据 </a:t>
            </a:r>
            <a:r>
              <a:rPr 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+ </a:t>
            </a: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单元测试</a:t>
            </a:r>
            <a:endParaRPr lang="en-US" sz="15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609975"/>
            <a:ext cx="11125200" cy="4572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3400" y="3676055"/>
            <a:ext cx="227766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Nuisance Regression</a:t>
            </a:r>
            <a:endParaRPr lang="en-US" sz="1800" dirty="0"/>
          </a:p>
        </p:txBody>
      </p:sp>
      <p:sp>
        <p:nvSpPr>
          <p:cNvPr id="29" name="Text 18"/>
          <p:cNvSpPr/>
          <p:nvPr/>
        </p:nvSpPr>
        <p:spPr>
          <a:xfrm>
            <a:off x="3810000" y="3676055"/>
            <a:ext cx="284544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Numerically Implemented</a:t>
            </a:r>
            <a:endParaRPr lang="en-US" sz="1800" dirty="0"/>
          </a:p>
        </p:txBody>
      </p:sp>
      <p:sp>
        <p:nvSpPr>
          <p:cNvPr id="30" name="Text 19"/>
          <p:cNvSpPr/>
          <p:nvPr/>
        </p:nvSpPr>
        <p:spPr>
          <a:xfrm>
            <a:off x="7848600" y="3700760"/>
            <a:ext cx="17027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合成数据 </a:t>
            </a:r>
            <a:r>
              <a:rPr 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+ </a:t>
            </a: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单元测试</a:t>
            </a:r>
            <a:endParaRPr lang="en-US" sz="15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067175"/>
            <a:ext cx="11125200" cy="4572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33400" y="4135041"/>
            <a:ext cx="139779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Realignment</a:t>
            </a:r>
            <a:endParaRPr lang="en-US" sz="1800" dirty="0"/>
          </a:p>
        </p:txBody>
      </p:sp>
      <p:sp>
        <p:nvSpPr>
          <p:cNvPr id="33" name="Text 21"/>
          <p:cNvSpPr/>
          <p:nvPr/>
        </p:nvSpPr>
        <p:spPr>
          <a:xfrm>
            <a:off x="3810000" y="4135041"/>
            <a:ext cx="108064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simplified</a:t>
            </a:r>
            <a:endParaRPr lang="en-US" sz="1800" dirty="0"/>
          </a:p>
        </p:txBody>
      </p:sp>
      <p:sp>
        <p:nvSpPr>
          <p:cNvPr id="34" name="Text 22"/>
          <p:cNvSpPr/>
          <p:nvPr/>
        </p:nvSpPr>
        <p:spPr>
          <a:xfrm>
            <a:off x="7848600" y="4159746"/>
            <a:ext cx="7499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简化实现</a:t>
            </a:r>
            <a:endParaRPr lang="en-US" sz="15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524375"/>
            <a:ext cx="11125200" cy="4572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33400" y="4594027"/>
            <a:ext cx="134793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ALFF / fALFF</a:t>
            </a:r>
            <a:endParaRPr lang="en-US" sz="1800" dirty="0"/>
          </a:p>
        </p:txBody>
      </p:sp>
      <p:sp>
        <p:nvSpPr>
          <p:cNvPr id="37" name="Text 24"/>
          <p:cNvSpPr/>
          <p:nvPr/>
        </p:nvSpPr>
        <p:spPr>
          <a:xfrm>
            <a:off x="3810000" y="4594027"/>
            <a:ext cx="284544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Numerically Implemented</a:t>
            </a:r>
            <a:endParaRPr lang="en-US" sz="1800" dirty="0"/>
          </a:p>
        </p:txBody>
      </p:sp>
      <p:sp>
        <p:nvSpPr>
          <p:cNvPr id="38" name="Text 25"/>
          <p:cNvSpPr/>
          <p:nvPr/>
        </p:nvSpPr>
        <p:spPr>
          <a:xfrm>
            <a:off x="7848600" y="4618732"/>
            <a:ext cx="26226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kernel golden/reference </a:t>
            </a: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覆盖</a:t>
            </a:r>
            <a:endParaRPr lang="en-US" sz="15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981575"/>
            <a:ext cx="11125200" cy="45720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33400" y="5053013"/>
            <a:ext cx="57700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ReHo</a:t>
            </a:r>
            <a:endParaRPr lang="en-US" sz="1800" dirty="0"/>
          </a:p>
        </p:txBody>
      </p:sp>
      <p:sp>
        <p:nvSpPr>
          <p:cNvPr id="41" name="Text 27"/>
          <p:cNvSpPr/>
          <p:nvPr/>
        </p:nvSpPr>
        <p:spPr>
          <a:xfrm>
            <a:off x="3810000" y="5053013"/>
            <a:ext cx="239419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CPU Golden Validated</a:t>
            </a:r>
            <a:endParaRPr lang="en-US" sz="1800" dirty="0"/>
          </a:p>
        </p:txBody>
      </p:sp>
      <p:sp>
        <p:nvSpPr>
          <p:cNvPr id="42" name="Text 28"/>
          <p:cNvSpPr/>
          <p:nvPr/>
        </p:nvSpPr>
        <p:spPr>
          <a:xfrm>
            <a:off x="7848600" y="5077718"/>
            <a:ext cx="246191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GPU Unvalidated</a:t>
            </a: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，自动回退</a:t>
            </a:r>
            <a:endParaRPr lang="en-US" sz="15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5448300"/>
            <a:ext cx="11125200" cy="45720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533400" y="5511998"/>
            <a:ext cx="16046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FC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（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Pearson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）</a:t>
            </a:r>
            <a:endParaRPr lang="en-US" sz="1800" dirty="0"/>
          </a:p>
        </p:txBody>
      </p:sp>
      <p:sp>
        <p:nvSpPr>
          <p:cNvPr id="45" name="Text 30"/>
          <p:cNvSpPr/>
          <p:nvPr/>
        </p:nvSpPr>
        <p:spPr>
          <a:xfrm>
            <a:off x="3810000" y="5511998"/>
            <a:ext cx="219789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Reference Validated</a:t>
            </a:r>
            <a:endParaRPr lang="en-US" sz="1800" dirty="0"/>
          </a:p>
        </p:txBody>
      </p:sp>
      <p:sp>
        <p:nvSpPr>
          <p:cNvPr id="46" name="Text 31"/>
          <p:cNvSpPr/>
          <p:nvPr/>
        </p:nvSpPr>
        <p:spPr>
          <a:xfrm>
            <a:off x="7848600" y="5536704"/>
            <a:ext cx="155391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完整 </a:t>
            </a:r>
            <a:r>
              <a:rPr lang="en-US" sz="15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E2E pending</a:t>
            </a:r>
            <a:endParaRPr lang="en-US" sz="15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6181725"/>
            <a:ext cx="11125200" cy="371475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533400" y="6286500"/>
            <a:ext cx="32044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注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 RC2 </a:t>
            </a: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冻结期内，能力等级不升级。</a:t>
            </a:r>
            <a:endParaRPr lang="en-US" sz="1500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544050" y="4210050"/>
            <a:ext cx="2476500" cy="2476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66700"/>
            <a:ext cx="15536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附录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/ APPENDIX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457200" y="542925"/>
            <a:ext cx="312687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附录 </a:t>
            </a:r>
            <a:r>
              <a:rPr 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B </a:t>
            </a:r>
            <a:r>
              <a:rPr lang="zh-CN" altLang="en-US" sz="25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· 关键代码地图</a:t>
            </a:r>
            <a:endParaRPr lang="en-US" sz="25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680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57300"/>
            <a:ext cx="2571750" cy="25908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19125" y="1362819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01</a:t>
            </a:r>
            <a:endParaRPr lang="en-US" sz="15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95425"/>
            <a:ext cx="1914525" cy="952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647825"/>
            <a:ext cx="1181100" cy="3714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23900" y="1686669"/>
            <a:ext cx="9641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services/</a:t>
            </a:r>
            <a:endParaRPr lang="en-US" sz="1650" dirty="0"/>
          </a:p>
        </p:txBody>
      </p:sp>
      <p:sp>
        <p:nvSpPr>
          <p:cNvPr id="12" name="Text 4"/>
          <p:cNvSpPr/>
          <p:nvPr/>
        </p:nvSpPr>
        <p:spPr>
          <a:xfrm>
            <a:off x="619125" y="2101900"/>
            <a:ext cx="215726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命令服务、读模型、对账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器、审批摘要、票据、观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察与评估</a:t>
            </a:r>
            <a:endParaRPr lang="en-US" sz="15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1350" y="1257300"/>
            <a:ext cx="3381375" cy="259080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3341340" y="1362819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02</a:t>
            </a:r>
            <a:endParaRPr lang="en-US" sz="15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650" y="1495425"/>
            <a:ext cx="2724150" cy="9525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3275" y="1647825"/>
            <a:ext cx="1152525" cy="371475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3446115" y="1686669"/>
            <a:ext cx="94029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planner/</a:t>
            </a:r>
            <a:endParaRPr lang="en-US" sz="1650" dirty="0"/>
          </a:p>
        </p:txBody>
      </p:sp>
      <p:sp>
        <p:nvSpPr>
          <p:cNvPr id="18" name="Text 7"/>
          <p:cNvSpPr/>
          <p:nvPr/>
        </p:nvSpPr>
        <p:spPr>
          <a:xfrm>
            <a:off x="3341340" y="2101900"/>
            <a:ext cx="2865537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llm_planner,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goal_contract_builder,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reviewed_plan_store,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plan_validator, approval_gate,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pipeline_writer</a:t>
            </a:r>
            <a:endParaRPr lang="en-US" sz="150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5125" y="1257300"/>
            <a:ext cx="2571750" cy="2590800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6875115" y="1362819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03</a:t>
            </a:r>
            <a:endParaRPr lang="en-US" sz="1500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0425" y="1495425"/>
            <a:ext cx="1914525" cy="9525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7050" y="1647825"/>
            <a:ext cx="1152525" cy="371475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6979890" y="1686669"/>
            <a:ext cx="9429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runtime/</a:t>
            </a:r>
            <a:endParaRPr lang="en-US" sz="1650" dirty="0"/>
          </a:p>
        </p:txBody>
      </p:sp>
      <p:sp>
        <p:nvSpPr>
          <p:cNvPr id="24" name="Text 10"/>
          <p:cNvSpPr/>
          <p:nvPr/>
        </p:nvSpPr>
        <p:spPr>
          <a:xfrm>
            <a:off x="6875115" y="2101900"/>
            <a:ext cx="2162175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execution_gateway,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pipeline_executor,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node_registry_plugins,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path_safety,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tool_catalog</a:t>
            </a:r>
            <a:endParaRPr lang="en-US" sz="1500" dirty="0"/>
          </a:p>
        </p:txBody>
      </p:sp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9275" y="1257300"/>
            <a:ext cx="2305050" cy="25908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9597330" y="1362819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04</a:t>
            </a:r>
            <a:endParaRPr lang="en-US" sz="1500" dirty="0"/>
          </a:p>
        </p:txBody>
      </p:sp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34575" y="1495425"/>
            <a:ext cx="1638300" cy="9525"/>
          </a:xfrm>
          <a:prstGeom prst="rect">
            <a:avLst/>
          </a:prstGeom>
        </p:spPr>
      </p:pic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01200" y="1647825"/>
            <a:ext cx="1914525" cy="371475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9702105" y="1686669"/>
            <a:ext cx="17028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native_preproc/</a:t>
            </a:r>
            <a:endParaRPr lang="en-US" sz="1650" dirty="0"/>
          </a:p>
        </p:txBody>
      </p:sp>
      <p:sp>
        <p:nvSpPr>
          <p:cNvPr id="30" name="Text 13"/>
          <p:cNvSpPr/>
          <p:nvPr/>
        </p:nvSpPr>
        <p:spPr>
          <a:xfrm>
            <a:off x="9597330" y="2101900"/>
            <a:ext cx="1934617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stages, orchestrator,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io</a:t>
            </a:r>
            <a:endParaRPr lang="en-US" sz="1500" dirty="0"/>
          </a:p>
        </p:txBody>
      </p:sp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000500"/>
            <a:ext cx="3657600" cy="259080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619125" y="4105721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05</a:t>
            </a:r>
            <a:endParaRPr lang="en-US" sz="1500" dirty="0"/>
          </a:p>
        </p:txBody>
      </p:sp>
      <p:pic>
        <p:nvPicPr>
          <p:cNvPr id="3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2500" y="4238625"/>
            <a:ext cx="3000375" cy="9525"/>
          </a:xfrm>
          <a:prstGeom prst="rect">
            <a:avLst/>
          </a:prstGeom>
        </p:spPr>
      </p:pic>
      <p:pic>
        <p:nvPicPr>
          <p:cNvPr id="3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9125" y="4391025"/>
            <a:ext cx="1247775" cy="371475"/>
          </a:xfrm>
          <a:prstGeom prst="rect">
            <a:avLst/>
          </a:prstGeom>
        </p:spPr>
      </p:pic>
      <p:sp>
        <p:nvSpPr>
          <p:cNvPr id="35" name="Text 15"/>
          <p:cNvSpPr/>
          <p:nvPr/>
        </p:nvSpPr>
        <p:spPr>
          <a:xfrm>
            <a:off x="723900" y="4429571"/>
            <a:ext cx="10292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frontend/</a:t>
            </a:r>
            <a:endParaRPr lang="en-US" sz="1650" dirty="0"/>
          </a:p>
        </p:txBody>
      </p:sp>
      <p:sp>
        <p:nvSpPr>
          <p:cNvPr id="36" name="Text 16"/>
          <p:cNvSpPr/>
          <p:nvPr/>
        </p:nvSpPr>
        <p:spPr>
          <a:xfrm>
            <a:off x="619125" y="4844802"/>
            <a:ext cx="20824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features/agent, lib/api</a:t>
            </a:r>
            <a:endParaRPr lang="en-US" sz="1500" dirty="0"/>
          </a:p>
        </p:txBody>
      </p:sp>
      <p:pic>
        <p:nvPicPr>
          <p:cNvPr id="3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67200" y="4000500"/>
            <a:ext cx="3657600" cy="2590800"/>
          </a:xfrm>
          <a:prstGeom prst="rect">
            <a:avLst/>
          </a:prstGeom>
        </p:spPr>
      </p:pic>
      <p:sp>
        <p:nvSpPr>
          <p:cNvPr id="38" name="Text 17"/>
          <p:cNvSpPr/>
          <p:nvPr/>
        </p:nvSpPr>
        <p:spPr>
          <a:xfrm>
            <a:off x="4429125" y="4105721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06</a:t>
            </a:r>
            <a:endParaRPr lang="en-US" sz="1500" dirty="0"/>
          </a:p>
        </p:txBody>
      </p:sp>
      <p:pic>
        <p:nvPicPr>
          <p:cNvPr id="3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62500" y="4238625"/>
            <a:ext cx="3000375" cy="9525"/>
          </a:xfrm>
          <a:prstGeom prst="rect">
            <a:avLst/>
          </a:prstGeom>
        </p:spPr>
      </p:pic>
      <p:pic>
        <p:nvPicPr>
          <p:cNvPr id="4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29125" y="4391025"/>
            <a:ext cx="1171575" cy="371475"/>
          </a:xfrm>
          <a:prstGeom prst="rect">
            <a:avLst/>
          </a:prstGeom>
        </p:spPr>
      </p:pic>
      <p:sp>
        <p:nvSpPr>
          <p:cNvPr id="41" name="Text 18"/>
          <p:cNvSpPr/>
          <p:nvPr/>
        </p:nvSpPr>
        <p:spPr>
          <a:xfrm>
            <a:off x="4533900" y="4429571"/>
            <a:ext cx="95711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desktop/</a:t>
            </a:r>
            <a:endParaRPr lang="en-US" sz="1650" dirty="0"/>
          </a:p>
        </p:txBody>
      </p:sp>
      <p:sp>
        <p:nvSpPr>
          <p:cNvPr id="42" name="Text 19"/>
          <p:cNvSpPr/>
          <p:nvPr/>
        </p:nvSpPr>
        <p:spPr>
          <a:xfrm>
            <a:off x="4429125" y="4844802"/>
            <a:ext cx="179903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electron, packaging</a:t>
            </a:r>
            <a:endParaRPr lang="en-US" sz="1500" dirty="0"/>
          </a:p>
        </p:txBody>
      </p:sp>
      <p:pic>
        <p:nvPicPr>
          <p:cNvPr id="4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77200" y="4000500"/>
            <a:ext cx="3657600" cy="2590800"/>
          </a:xfrm>
          <a:prstGeom prst="rect">
            <a:avLst/>
          </a:prstGeom>
        </p:spPr>
      </p:pic>
      <p:sp>
        <p:nvSpPr>
          <p:cNvPr id="44" name="Text 20"/>
          <p:cNvSpPr/>
          <p:nvPr/>
        </p:nvSpPr>
        <p:spPr>
          <a:xfrm>
            <a:off x="8239125" y="4105721"/>
            <a:ext cx="22145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07</a:t>
            </a:r>
            <a:endParaRPr lang="en-US" sz="1500" dirty="0"/>
          </a:p>
        </p:txBody>
      </p:sp>
      <p:pic>
        <p:nvPicPr>
          <p:cNvPr id="4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72500" y="4238625"/>
            <a:ext cx="3000375" cy="9525"/>
          </a:xfrm>
          <a:prstGeom prst="rect">
            <a:avLst/>
          </a:prstGeom>
        </p:spPr>
      </p:pic>
      <p:pic>
        <p:nvPicPr>
          <p:cNvPr id="4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39125" y="4391025"/>
            <a:ext cx="819150" cy="371475"/>
          </a:xfrm>
          <a:prstGeom prst="rect">
            <a:avLst/>
          </a:prstGeom>
        </p:spPr>
      </p:pic>
      <p:sp>
        <p:nvSpPr>
          <p:cNvPr id="47" name="Text 21"/>
          <p:cNvSpPr/>
          <p:nvPr/>
        </p:nvSpPr>
        <p:spPr>
          <a:xfrm>
            <a:off x="8343900" y="4429571"/>
            <a:ext cx="60870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tests/</a:t>
            </a:r>
            <a:endParaRPr lang="en-US" sz="1650" dirty="0"/>
          </a:p>
        </p:txBody>
      </p:sp>
      <p:sp>
        <p:nvSpPr>
          <p:cNvPr id="48" name="Text 22"/>
          <p:cNvSpPr/>
          <p:nvPr/>
        </p:nvSpPr>
        <p:spPr>
          <a:xfrm>
            <a:off x="8239125" y="4844802"/>
            <a:ext cx="311408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unit </a:t>
            </a:r>
            <a:r>
              <a:rPr lang="en-US" sz="15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323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integration </a:t>
            </a:r>
            <a:r>
              <a:rPr lang="en-US" sz="15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21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golden</a:t>
            </a:r>
            <a:r>
              <a:rPr lang="en-US" sz="15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2</a:t>
            </a:r>
            <a:r>
              <a:rPr lang="zh-CN" alt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500" dirty="0">
                <a:solidFill>
                  <a:srgbClr val="1A1A1A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characterization </a:t>
            </a:r>
            <a:r>
              <a:rPr lang="en-US" sz="15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1</a:t>
            </a:r>
            <a:endParaRPr lang="en-US" sz="1500" dirty="0"/>
          </a:p>
        </p:txBody>
      </p:sp>
      <p:pic>
        <p:nvPicPr>
          <p:cNvPr id="4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8915400" y="3581400"/>
            <a:ext cx="3276600" cy="3276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" y="342900"/>
            <a:ext cx="223465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附录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/ APPENDIX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33400" y="666750"/>
            <a:ext cx="5258098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8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附录 </a:t>
            </a:r>
            <a:r>
              <a:rPr lang="en-US" sz="28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C </a:t>
            </a:r>
            <a:r>
              <a:rPr lang="zh-CN" altLang="en-US" sz="285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· 审批链错误码与失败行为</a:t>
            </a:r>
            <a:endParaRPr lang="en-US" sz="28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04925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14475"/>
            <a:ext cx="11125200" cy="3714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33400" y="1510159"/>
            <a:ext cx="6481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错误码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4381500" y="1510159"/>
            <a:ext cx="8642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触发条件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8801100" y="1510159"/>
            <a:ext cx="86424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失败行为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885950"/>
            <a:ext cx="11125200" cy="7143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33400" y="1966168"/>
            <a:ext cx="302463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APPROVAL_SUMMARY_STALE /</a:t>
            </a: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EXPIRED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4381500" y="2070943"/>
            <a:ext cx="269944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审批摘要哈希不符或已过期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8801100" y="2070943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拒绝审批</a:t>
            </a:r>
            <a:endParaRPr lang="en-US" sz="18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600325"/>
            <a:ext cx="11125200" cy="7143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3400" y="2806750"/>
            <a:ext cx="26379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AGENT_DRY_RUN_BLOCKED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4381500" y="2782937"/>
            <a:ext cx="251311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审批后 </a:t>
            </a: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dry-run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执行失败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8801100" y="2782937"/>
            <a:ext cx="173280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停在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dispatch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前</a:t>
            </a:r>
            <a:endParaRPr lang="en-US" sz="18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314700"/>
            <a:ext cx="11125200" cy="7143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33400" y="3390156"/>
            <a:ext cx="237395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AGENT_EXECUTION_</a:t>
            </a: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PREREQUISITE_MISSING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4381500" y="3494931"/>
            <a:ext cx="242947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ReHo </a:t>
            </a: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缺失预处理输入链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8801100" y="3494931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阻断审批执行</a:t>
            </a:r>
            <a:endParaRPr lang="en-US" sz="18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019550"/>
            <a:ext cx="11125200" cy="71437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3400" y="4230737"/>
            <a:ext cx="32341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REVIEWED_EXECUTION_DISABLED</a:t>
            </a:r>
            <a:endParaRPr lang="en-US" sz="1500" dirty="0"/>
          </a:p>
        </p:txBody>
      </p:sp>
      <p:sp>
        <p:nvSpPr>
          <p:cNvPr id="25" name="Text 15"/>
          <p:cNvSpPr/>
          <p:nvPr/>
        </p:nvSpPr>
        <p:spPr>
          <a:xfrm>
            <a:off x="4381500" y="4206925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环境门未开启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8801100" y="4206925"/>
            <a:ext cx="209058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返回 </a:t>
            </a:r>
            <a:r>
              <a:rPr 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403 </a:t>
            </a: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结构化拒绝</a:t>
            </a:r>
            <a:endParaRPr lang="en-US" sz="18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733925"/>
            <a:ext cx="11125200" cy="71437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33400" y="4814143"/>
            <a:ext cx="355877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LIFECYCLE_TICKET_REQUIRED /</a:t>
            </a: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NOT_CONSUMED / PLAN_MISMATCH</a:t>
            </a:r>
            <a:endParaRPr lang="en-US" sz="1500" dirty="0"/>
          </a:p>
        </p:txBody>
      </p:sp>
      <p:sp>
        <p:nvSpPr>
          <p:cNvPr id="29" name="Text 18"/>
          <p:cNvSpPr/>
          <p:nvPr/>
        </p:nvSpPr>
        <p:spPr>
          <a:xfrm>
            <a:off x="4381500" y="4918918"/>
            <a:ext cx="314920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票据缺失、未消费或与计划不符</a:t>
            </a:r>
            <a:endParaRPr lang="en-US" sz="1800" dirty="0"/>
          </a:p>
        </p:txBody>
      </p:sp>
      <p:sp>
        <p:nvSpPr>
          <p:cNvPr id="30" name="Text 19"/>
          <p:cNvSpPr/>
          <p:nvPr/>
        </p:nvSpPr>
        <p:spPr>
          <a:xfrm>
            <a:off x="8801100" y="4918918"/>
            <a:ext cx="134972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拒绝状态迁移</a:t>
            </a:r>
            <a:endParaRPr lang="en-US" sz="18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5448300"/>
            <a:ext cx="11125200" cy="714375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33400" y="5654725"/>
            <a:ext cx="255880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LIFECYCLE_BINDING_DRIFT</a:t>
            </a:r>
            <a:endParaRPr lang="en-US" sz="1500" dirty="0"/>
          </a:p>
        </p:txBody>
      </p:sp>
      <p:sp>
        <p:nvSpPr>
          <p:cNvPr id="33" name="Text 21"/>
          <p:cNvSpPr/>
          <p:nvPr/>
        </p:nvSpPr>
        <p:spPr>
          <a:xfrm>
            <a:off x="4381500" y="5630912"/>
            <a:ext cx="179963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78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审批绑定发生漂移</a:t>
            </a:r>
            <a:endParaRPr lang="en-US" sz="1800" dirty="0"/>
          </a:p>
        </p:txBody>
      </p:sp>
      <p:sp>
        <p:nvSpPr>
          <p:cNvPr id="34" name="Text 22"/>
          <p:cNvSpPr/>
          <p:nvPr/>
        </p:nvSpPr>
        <p:spPr>
          <a:xfrm>
            <a:off x="8801100" y="5630912"/>
            <a:ext cx="8998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拒绝执行</a:t>
            </a:r>
            <a:endParaRPr lang="en-US" sz="18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305550"/>
            <a:ext cx="11125200" cy="2667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62000" y="6305550"/>
            <a:ext cx="460652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所有失败行为共同点：均为结构化拒绝，</a:t>
            </a:r>
            <a:r>
              <a:rPr lang="en-US" sz="1500" dirty="0">
                <a:solidFill>
                  <a:srgbClr val="8A8178"/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fail-closed</a:t>
            </a:r>
            <a:endParaRPr lang="en-US" sz="15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0152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9334500" y="4000500"/>
            <a:ext cx="2857500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3400" y="381000"/>
            <a:ext cx="21108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附录 </a:t>
            </a:r>
            <a:r>
              <a:rPr lang="en-US" sz="15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/ APPENDIX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33400" y="676275"/>
            <a:ext cx="446290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附录 </a:t>
            </a:r>
            <a:r>
              <a:rPr lang="en-US" sz="24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D </a:t>
            </a:r>
            <a:r>
              <a:rPr lang="zh-CN" altLang="en-US" sz="2400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· 项目级记忆系统设计要点</a:t>
            </a:r>
            <a:endParaRPr lang="en-US" sz="2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81100"/>
            <a:ext cx="685800" cy="190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352550"/>
            <a:ext cx="3619500" cy="26289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1495425"/>
            <a:ext cx="323850" cy="3238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33425" y="1855738"/>
            <a:ext cx="9373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双库分层</a:t>
            </a:r>
            <a:endParaRPr lang="en-US" sz="1875" dirty="0"/>
          </a:p>
        </p:txBody>
      </p:sp>
      <p:sp>
        <p:nvSpPr>
          <p:cNvPr id="10" name="Text 3"/>
          <p:cNvSpPr/>
          <p:nvPr/>
        </p:nvSpPr>
        <p:spPr>
          <a:xfrm>
            <a:off x="733425" y="2208163"/>
            <a:ext cx="3301901" cy="1612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独立 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memory SQLite 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是长期记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忆唯一权威源；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desktop SQLite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仅存 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consent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、事务 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outbox 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与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forget ledger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，其余仅是可重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建投影。</a:t>
            </a:r>
            <a:endParaRPr lang="en-US" sz="18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1352550"/>
            <a:ext cx="3619500" cy="2628900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275" y="1495425"/>
            <a:ext cx="323850" cy="32385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4486275" y="1855738"/>
            <a:ext cx="70306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五道门</a:t>
            </a:r>
            <a:endParaRPr lang="en-US" sz="1875" dirty="0"/>
          </a:p>
        </p:txBody>
      </p:sp>
      <p:sp>
        <p:nvSpPr>
          <p:cNvPr id="14" name="Text 5"/>
          <p:cNvSpPr/>
          <p:nvPr/>
        </p:nvSpPr>
        <p:spPr>
          <a:xfrm>
            <a:off x="4486275" y="2208163"/>
            <a:ext cx="3263503" cy="128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enabled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generation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use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llm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、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projection 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五道门默认全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关，安装级与项目级双重门控，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逐一显式开启。</a:t>
            </a:r>
            <a:endParaRPr lang="en-US" sz="18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100" y="1352550"/>
            <a:ext cx="3619500" cy="2628900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9125" y="1495425"/>
            <a:ext cx="323850" cy="32385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8239125" y="1855738"/>
            <a:ext cx="11715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候选与检索</a:t>
            </a:r>
            <a:endParaRPr lang="en-US" sz="1875" dirty="0"/>
          </a:p>
        </p:txBody>
      </p:sp>
      <p:sp>
        <p:nvSpPr>
          <p:cNvPr id="18" name="Text 7"/>
          <p:cNvSpPr/>
          <p:nvPr/>
        </p:nvSpPr>
        <p:spPr>
          <a:xfrm>
            <a:off x="8239125" y="2208163"/>
            <a:ext cx="3263503" cy="963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候选确定性生成，经人工审阅后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合并；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FTS 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全文检索；变更与版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本绑定，全程可溯源。</a:t>
            </a:r>
            <a:endParaRPr lang="en-US" sz="180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105275"/>
            <a:ext cx="3619500" cy="2447925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" y="4248150"/>
            <a:ext cx="323850" cy="32385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733425" y="4612184"/>
            <a:ext cx="4686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遗忘</a:t>
            </a:r>
            <a:endParaRPr lang="en-US" sz="1875" dirty="0"/>
          </a:p>
        </p:txBody>
      </p:sp>
      <p:sp>
        <p:nvSpPr>
          <p:cNvPr id="22" name="Text 9"/>
          <p:cNvSpPr/>
          <p:nvPr/>
        </p:nvSpPr>
        <p:spPr>
          <a:xfrm>
            <a:off x="733425" y="4964609"/>
            <a:ext cx="3171230" cy="128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forget ledger 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记录遗忘，墓碑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阻止旧来源自动复活；读取时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JOIN ledger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，存疑即拒，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fail-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closed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。</a:t>
            </a:r>
            <a:endParaRPr lang="en-US" sz="180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0" y="4105275"/>
            <a:ext cx="7372350" cy="2447925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275" y="4248150"/>
            <a:ext cx="323850" cy="32385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4486275" y="4612184"/>
            <a:ext cx="4686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75" b="1" dirty="0">
                <a:solidFill>
                  <a:srgbClr val="1A1A1A"/>
                </a:solidFill>
                <a:latin typeface="Alibaba PuHuiTi B" pitchFamily="34" charset="0"/>
                <a:ea typeface="Alibaba PuHuiTi B" pitchFamily="34" charset="-122"/>
                <a:cs typeface="Alibaba PuHuiTi B" pitchFamily="34" charset="-120"/>
              </a:rPr>
              <a:t>边界</a:t>
            </a:r>
            <a:endParaRPr lang="en-US" sz="1875" dirty="0"/>
          </a:p>
        </p:txBody>
      </p:sp>
      <p:sp>
        <p:nvSpPr>
          <p:cNvPr id="26" name="Text 11"/>
          <p:cNvSpPr/>
          <p:nvPr/>
        </p:nvSpPr>
        <p:spPr>
          <a:xfrm>
            <a:off x="4486275" y="4964609"/>
            <a:ext cx="6983611" cy="63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memory_context_hash 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冻结进 </a:t>
            </a:r>
            <a:r>
              <a:rPr 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Reviewed Plan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；科学记忆仅具建议</a:t>
            </a:r>
            <a:r>
              <a:rPr lang="zh-CN" altLang="en-US" sz="1800" dirty="0">
                <a:solidFill>
                  <a:srgbClr val="1A1A1A">
                    <a:alpha val="82000"/>
                  </a:srgbClr>
                </a:solidFill>
                <a:latin typeface="Alibaba PuHuiTi R" pitchFamily="34" charset="0"/>
                <a:ea typeface="Alibaba PuHuiTi R" pitchFamily="34" charset="-122"/>
                <a:cs typeface="Alibaba PuHuiTi R" pitchFamily="34" charset="-120"/>
              </a:rPr>
              <a:t>性，必须在当前任务中重新确认。</a:t>
            </a:r>
            <a:endParaRPr lang="en-US" sz="1800" dirty="0"/>
          </a:p>
        </p:txBody>
      </p:sp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6275" y="5991225"/>
            <a:ext cx="381000" cy="19050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4486275" y="6090345"/>
            <a:ext cx="359911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8A8178"/>
                </a:solidFill>
                <a:latin typeface="Alibaba PuHuiTi M" pitchFamily="34" charset="0"/>
                <a:ea typeface="Alibaba PuHuiTi M" pitchFamily="34" charset="-122"/>
                <a:cs typeface="Alibaba PuHuiTi M" pitchFamily="34" charset="-120"/>
              </a:rPr>
              <a:t>记忆不是执行许可或科学真值来源。</a:t>
            </a:r>
            <a:endParaRPr lang="en-US" sz="1800" dirty="0"/>
          </a:p>
        </p:txBody>
      </p:sp>
      <p:pic>
        <p:nvPicPr>
          <p:cNvPr id="2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830050" y="266700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MedImage Agent 架构拆解 — 确定性 Plan-then-Execute 的 rs-fMRI 研究平台</dc:title>
  <dc:subject>PptxGenJS Presentation</dc:subject>
  <dc:creator>PptxGenJS</dc:creator>
  <cp:lastModifiedBy>PptxGenJS</cp:lastModifiedBy>
  <cp:revision>1</cp:revision>
  <dcterms:created xsi:type="dcterms:W3CDTF">2026-08-04T00:13:46Z</dcterms:created>
  <dcterms:modified xsi:type="dcterms:W3CDTF">2026-08-04T00:13:46Z</dcterms:modified>
</cp:coreProperties>
</file>